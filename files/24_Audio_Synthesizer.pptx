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998" autoAdjust="0"/>
  </p:normalViewPr>
  <p:slideViewPr>
    <p:cSldViewPr snapToGrid="0">
      <p:cViewPr>
        <p:scale>
          <a:sx n="75" d="100"/>
          <a:sy n="75" d="100"/>
        </p:scale>
        <p:origin x="324"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A0FC6F-2D16-4047-8D03-442495B52B04}"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E27A0-AC21-4EE7-AE49-F851BA3E6359}" type="slidenum">
              <a:rPr lang="en-IN" smtClean="0"/>
              <a:t>‹#›</a:t>
            </a:fld>
            <a:endParaRPr lang="en-IN"/>
          </a:p>
        </p:txBody>
      </p:sp>
    </p:spTree>
    <p:extLst>
      <p:ext uri="{BB962C8B-B14F-4D97-AF65-F5344CB8AC3E}">
        <p14:creationId xmlns:p14="http://schemas.microsoft.com/office/powerpoint/2010/main" val="2315834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Good morning everyone. Today we are presenting our project: the Audio-WAV-Synthesizer. Our goal was to create a digital synthesizer in modern C++ that generates audible sound entirely from mathematical first principles, without relying on third-party audio decoding libraries. We will walk you through our object-oriented architecture, audio DSP mathematics, and how we write raw binary WAV files at the byte level.</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1</a:t>
            </a:fld>
            <a:endParaRPr lang="en-IN"/>
          </a:p>
        </p:txBody>
      </p:sp>
    </p:spTree>
    <p:extLst>
      <p:ext uri="{BB962C8B-B14F-4D97-AF65-F5344CB8AC3E}">
        <p14:creationId xmlns:p14="http://schemas.microsoft.com/office/powerpoint/2010/main" val="389386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Here is our core problem statement. Digital sound is just a sequence of discrete numbers. Our challenge was threefold: First, build an extensible class hierarchy to generate standard periodic waveforms like Sine, Square, and Sawtooth. Second, modulate the volume over time using a 4-stage ADSR envelope so sounds don't pop or click. And third, write binary file streams that strictly follow the Microsoft RIFF/WAVE standard so that VLC or Windows Media Player can play our audio without error.</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2</a:t>
            </a:fld>
            <a:endParaRPr lang="en-IN"/>
          </a:p>
        </p:txBody>
      </p:sp>
    </p:spTree>
    <p:extLst>
      <p:ext uri="{BB962C8B-B14F-4D97-AF65-F5344CB8AC3E}">
        <p14:creationId xmlns:p14="http://schemas.microsoft.com/office/powerpoint/2010/main" val="74679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As shown in our architecture diagram, our system enforces a strict 3-tier separation of concerns. At the top is the User Interface Layer. Both our CLI and our interactive TUI are thin client executables. They contain zero audio generation logic. Instead, they configure a simple SynthSettings data structure and pass it down into our middle tier: the synth_core static library. Inside synth_core, our rendering pipeline queries the oscillator and envelope per sample. The resulting buffer is then serialized into standard WAV audio by WavWriter.</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3</a:t>
            </a:fld>
            <a:endParaRPr lang="en-IN"/>
          </a:p>
        </p:txBody>
      </p:sp>
    </p:spTree>
    <p:extLst>
      <p:ext uri="{BB962C8B-B14F-4D97-AF65-F5344CB8AC3E}">
        <p14:creationId xmlns:p14="http://schemas.microsoft.com/office/powerpoint/2010/main" val="3883162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Looking at our UML class diagram, the heart of our audio generation is the Oscillator abstract base class. It encapsulates protected state: the frequency, the sample rate, and the internal phase accumulator. It defines a pure virtual function, nextSample(), making Oscillator abstract. Concrete classes SineOscillator, SquareOscillator, and SawtoothOscillator inherit from it and implement their unique mathematical formulas. We employ the Factory Pattern via makeOscillator, which returns a polymorphic std::unique_ptr&lt;Oscillator&gt;. By leveraging modern C++ RAII, memory is freed automatically.</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4</a:t>
            </a:fld>
            <a:endParaRPr lang="en-IN"/>
          </a:p>
        </p:txBody>
      </p:sp>
    </p:spTree>
    <p:extLst>
      <p:ext uri="{BB962C8B-B14F-4D97-AF65-F5344CB8AC3E}">
        <p14:creationId xmlns:p14="http://schemas.microsoft.com/office/powerpoint/2010/main" val="779522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Why do we need an ADSR envelope? If you turn an audio wave on or off instantly, the speaker cone experiences an abrupt voltage jump. This step discontinuity produces an annoying high-frequency pop or click. The Envelope class implements a piecewise linear modulation curve across Attack, Decay, Sustain, and Release stages. Attack smoothly ramps from 0 to peak, Decay drops to the sustain level, Sustain holds the note, and Release fades smoothly back to zero. This simulates real instruments and eliminates all speaker popping.</a:t>
            </a:r>
            <a:endParaRPr lang="en-IN" dirty="0"/>
          </a:p>
        </p:txBody>
      </p:sp>
      <p:sp>
        <p:nvSpPr>
          <p:cNvPr id="4" name="Slide Number Placeholder 3"/>
          <p:cNvSpPr>
            <a:spLocks noGrp="1"/>
          </p:cNvSpPr>
          <p:nvPr>
            <p:ph type="sldNum" sz="quarter" idx="5"/>
          </p:nvPr>
        </p:nvSpPr>
        <p:spPr/>
        <p:txBody>
          <a:bodyPr/>
          <a:lstStyle/>
          <a:p>
            <a:fld id="{4C2E27A0-AC21-4EE7-AE49-F851BA3E6359}" type="slidenum">
              <a:rPr lang="en-IN" smtClean="0"/>
              <a:t>5</a:t>
            </a:fld>
            <a:endParaRPr lang="en-IN"/>
          </a:p>
        </p:txBody>
      </p:sp>
    </p:spTree>
    <p:extLst>
      <p:ext uri="{BB962C8B-B14F-4D97-AF65-F5344CB8AC3E}">
        <p14:creationId xmlns:p14="http://schemas.microsoft.com/office/powerpoint/2010/main" val="927039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Once we have our floating-point samples, how do we create a valid .wav file? We write a 44-byte RIFF/WAVE binary header followed by the audio data. In toInt16(), we clamp our double samples to [-1.0, 1.0] to prevent audio clipping, then multiply by 32,767 to quantize into signed 16-bit integers. Crucially, WAV files require Little-Endian byte ordering. In writeU16 and writeU32, we explicitly extract bytes using bitwise shifts and 0xFF masks, guaranteeing our WAV files work correctly regardless of the host CPU's endianness.</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6</a:t>
            </a:fld>
            <a:endParaRPr lang="en-IN"/>
          </a:p>
        </p:txBody>
      </p:sp>
    </p:spTree>
    <p:extLst>
      <p:ext uri="{BB962C8B-B14F-4D97-AF65-F5344CB8AC3E}">
        <p14:creationId xmlns:p14="http://schemas.microsoft.com/office/powerpoint/2010/main" val="2583104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a:t>Finally, we built two user interfaces. Our CLI executable, synth, is fully scriptable with command-line flags and strict input validation. For live experimentation, our synth-tui application uses FTXUI to render interactive sliders and live Braille canvas graphs directly in the terminal, letting users visualize the waveform and envelope before generating the WAV file. In conclusion, our synthesizer meets every engineering objective: robust OOP design, mathematical accuracy, and byte-level file serialization. Thank you, and we welcome any questions!</a:t>
            </a:r>
            <a:endParaRPr lang="en-IN"/>
          </a:p>
        </p:txBody>
      </p:sp>
      <p:sp>
        <p:nvSpPr>
          <p:cNvPr id="4" name="Slide Number Placeholder 3"/>
          <p:cNvSpPr>
            <a:spLocks noGrp="1"/>
          </p:cNvSpPr>
          <p:nvPr>
            <p:ph type="sldNum" sz="quarter" idx="5"/>
          </p:nvPr>
        </p:nvSpPr>
        <p:spPr/>
        <p:txBody>
          <a:bodyPr/>
          <a:lstStyle/>
          <a:p>
            <a:fld id="{4C2E27A0-AC21-4EE7-AE49-F851BA3E6359}" type="slidenum">
              <a:rPr lang="en-IN" smtClean="0"/>
              <a:t>7</a:t>
            </a:fld>
            <a:endParaRPr lang="en-IN"/>
          </a:p>
        </p:txBody>
      </p:sp>
    </p:spTree>
    <p:extLst>
      <p:ext uri="{BB962C8B-B14F-4D97-AF65-F5344CB8AC3E}">
        <p14:creationId xmlns:p14="http://schemas.microsoft.com/office/powerpoint/2010/main" val="4108805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AAF22-D14C-BF7B-F701-03FC1CF23F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959730-401B-1738-4641-F95734510A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94D2A6-606D-143D-5753-0E38DA12EF52}"/>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063B12AD-4A08-BDBB-350E-0AD82DACF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FA8302-4C5B-247D-546E-6A5E8F4746F2}"/>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994987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584CE-F61C-FF1E-5257-8711BC22DA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5478FE-4B18-EA67-ADE8-1C4D25560F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54A05D-F281-C8F6-3610-EEB9DFF7457D}"/>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9AF4D3BA-1D3C-CD2D-3639-774AAAD9CB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327ADC-6F01-CF79-8157-213049E28761}"/>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994000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C2AC-B544-5E10-4E0B-93135FFC1D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60243E-EFB7-F180-B026-5A04DFBB62F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5AA01A-D248-9A85-6E60-87DAB7570936}"/>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84B69DE3-D275-EB56-7093-5EC08B47EF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156621-A996-0A58-81A0-7ABE4E2B89FB}"/>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113735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B99C-A41E-702F-FF85-E3F2F7BBF8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56589-DFC5-D85E-00C5-BF770E246D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9166F6-4664-E4BF-255C-AA40B13531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4008CE-D001-4830-8C1E-E8EDBED019C5}"/>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44F30513-D795-CC8E-80A0-6823CCF4B4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0155F8-1F4C-2217-E604-365A5280B647}"/>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79750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EBA2-F287-3D4C-0CE0-64D1C679A8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B91C30-5F1A-5085-98A6-DA59EA236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72D05-56CB-4166-323D-B4B5EA8F9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8A7567-CACC-FDBD-DD0E-A129B0699B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52F78F-B980-C6EB-05DC-CFDCA07D56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10EE36-8E56-9F98-B6DA-F8EA93BA3C93}"/>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8" name="Footer Placeholder 7">
            <a:extLst>
              <a:ext uri="{FF2B5EF4-FFF2-40B4-BE49-F238E27FC236}">
                <a16:creationId xmlns:a16="http://schemas.microsoft.com/office/drawing/2014/main" id="{E0CBE068-6C5C-1080-D480-06366610E7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1E7F01-4B14-4087-E02F-16E3FE61BB92}"/>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83593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BAE3E-C8C4-3F84-8449-492F3F0186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89B939-58A9-42AE-FB4D-51287EDBD9B4}"/>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4" name="Footer Placeholder 3">
            <a:extLst>
              <a:ext uri="{FF2B5EF4-FFF2-40B4-BE49-F238E27FC236}">
                <a16:creationId xmlns:a16="http://schemas.microsoft.com/office/drawing/2014/main" id="{C5C9D5C5-1FDF-18F6-9289-29ECB520CE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AB5C65-6403-BA42-FAC6-C9D7A12E92BC}"/>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146338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F60F0-A610-2E0F-1D88-EBF7D65FD12C}"/>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3" name="Footer Placeholder 2">
            <a:extLst>
              <a:ext uri="{FF2B5EF4-FFF2-40B4-BE49-F238E27FC236}">
                <a16:creationId xmlns:a16="http://schemas.microsoft.com/office/drawing/2014/main" id="{0413EB38-727D-6C8A-2037-45D802C2B8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CAF133-47FC-D329-59B9-97F05956CB8C}"/>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02813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75A9A-6203-2D6B-125E-EACA2A5E7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CCC8A2-8B42-40A0-3EFB-27DF7B9069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B7F26EF-BA3C-B670-6D91-78D2CD53E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6524F5-88BF-7326-7A3F-DC5F9692192D}"/>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A1FC1581-D320-73BF-001D-D0CC4A8597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AEEFFE-ED4D-B7D5-EE14-EBEE36D4779A}"/>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2136805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C870-85FC-2861-360F-4DB77F3B4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FCB50C-1917-254F-513B-EBC437F582F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1402B5-2B1D-72E2-2FB0-539B278AC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9EA66-6844-0B21-2A1D-5CF05200A352}"/>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6" name="Footer Placeholder 5">
            <a:extLst>
              <a:ext uri="{FF2B5EF4-FFF2-40B4-BE49-F238E27FC236}">
                <a16:creationId xmlns:a16="http://schemas.microsoft.com/office/drawing/2014/main" id="{C92E6A4A-4DCC-6249-FE7F-ED960F59C3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714E38-1B1F-F173-D44C-A65462402B88}"/>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993006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4750-E22E-8E2E-96CF-E8AF936FBE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6B4BE2-F43F-D6A6-493D-D46510595C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AE9302-033F-41EC-9049-DD5AD420C9AB}"/>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5074DE1B-AABC-3C41-9EE3-7914A9B569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78FB0E-B291-841E-2E30-598017BE60AA}"/>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3659250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50278-C1B6-FA55-C65B-C0A3339266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A7006A-0E1C-D0A4-1354-CA6CAE371F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591E43-C8E3-5359-0A62-BDEF76DD2955}"/>
              </a:ext>
            </a:extLst>
          </p:cNvPr>
          <p:cNvSpPr>
            <a:spLocks noGrp="1"/>
          </p:cNvSpPr>
          <p:nvPr>
            <p:ph type="dt" sz="half" idx="10"/>
          </p:nvPr>
        </p:nvSpPr>
        <p:spPr/>
        <p:txBody>
          <a:body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561189C5-C404-ED4F-6307-A391EC348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EC5EBC-3BAD-4013-1093-89246ED39008}"/>
              </a:ext>
            </a:extLst>
          </p:cNvPr>
          <p:cNvSpPr>
            <a:spLocks noGrp="1"/>
          </p:cNvSpPr>
          <p:nvPr>
            <p:ph type="sldNum" sz="quarter" idx="12"/>
          </p:nvPr>
        </p:nvSpPr>
        <p:spPr/>
        <p:txBody>
          <a:bodyPr/>
          <a:lstStyle/>
          <a:p>
            <a:fld id="{F1B9C494-819F-4814-BF36-C34A07114AFA}" type="slidenum">
              <a:rPr lang="en-IN" smtClean="0"/>
              <a:t>‹#›</a:t>
            </a:fld>
            <a:endParaRPr lang="en-IN"/>
          </a:p>
        </p:txBody>
      </p:sp>
    </p:spTree>
    <p:extLst>
      <p:ext uri="{BB962C8B-B14F-4D97-AF65-F5344CB8AC3E}">
        <p14:creationId xmlns:p14="http://schemas.microsoft.com/office/powerpoint/2010/main" val="4120632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D39593-71BC-E827-FA1A-A07699AA1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FA4E06-D665-C474-A2C6-F95BA44978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CB9372-9EC0-6B5E-0AEB-C081F7E41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8E9C42-E4C2-4262-9B37-CCBA4F82E8BD}" type="datetimeFigureOut">
              <a:rPr lang="en-IN" smtClean="0"/>
              <a:t>30-10-2026</a:t>
            </a:fld>
            <a:endParaRPr lang="en-IN"/>
          </a:p>
        </p:txBody>
      </p:sp>
      <p:sp>
        <p:nvSpPr>
          <p:cNvPr id="5" name="Footer Placeholder 4">
            <a:extLst>
              <a:ext uri="{FF2B5EF4-FFF2-40B4-BE49-F238E27FC236}">
                <a16:creationId xmlns:a16="http://schemas.microsoft.com/office/drawing/2014/main" id="{E98E447F-3AFD-8613-85D9-FFF758378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3308C47-2FFD-64A7-8AE9-8ABE5EC674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1B9C494-819F-4814-BF36-C34A07114AFA}" type="slidenum">
              <a:rPr lang="en-IN" smtClean="0"/>
              <a:t>‹#›</a:t>
            </a:fld>
            <a:endParaRPr lang="en-IN"/>
          </a:p>
        </p:txBody>
      </p:sp>
    </p:spTree>
    <p:extLst>
      <p:ext uri="{BB962C8B-B14F-4D97-AF65-F5344CB8AC3E}">
        <p14:creationId xmlns:p14="http://schemas.microsoft.com/office/powerpoint/2010/main" val="3243619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EFAAD3-EC5B-2844-D968-3B13711C2FF6}"/>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BD32AD09-5278-9196-8C2F-8F876EB00879}"/>
              </a:ext>
            </a:extLst>
          </p:cNvPr>
          <p:cNvSpPr txBox="1"/>
          <p:nvPr/>
        </p:nvSpPr>
        <p:spPr>
          <a:xfrm>
            <a:off x="762000" y="2300000"/>
            <a:ext cx="10668000" cy="850000"/>
          </a:xfrm>
          <a:prstGeom prst="rect">
            <a:avLst/>
          </a:prstGeom>
          <a:noFill/>
        </p:spPr>
        <p:txBody>
          <a:bodyPr vert="horz" wrap="square" lIns="50800" tIns="25400" rIns="50800" bIns="25400" rtlCol="0">
            <a:spAutoFit/>
          </a:bodyPr>
          <a:lstStyle/>
          <a:p>
            <a:pPr algn="ctr"/>
            <a:r>
              <a:rPr lang="en-IN" sz="4000" b="1">
                <a:solidFill>
                  <a:srgbClr val="FFFFFF"/>
                </a:solidFill>
                <a:latin typeface="Segoe UI" panose="020B0502040204020203" pitchFamily="34" charset="0"/>
              </a:rPr>
              <a:t>Audio-WAV-Synthesizer</a:t>
            </a:r>
          </a:p>
        </p:txBody>
      </p:sp>
      <p:sp>
        <p:nvSpPr>
          <p:cNvPr id="6" name="TextBox 5">
            <a:extLst>
              <a:ext uri="{FF2B5EF4-FFF2-40B4-BE49-F238E27FC236}">
                <a16:creationId xmlns:a16="http://schemas.microsoft.com/office/drawing/2014/main" id="{22DD81D8-851B-C5F0-BD4C-0C4E55489618}"/>
              </a:ext>
            </a:extLst>
          </p:cNvPr>
          <p:cNvSpPr txBox="1"/>
          <p:nvPr/>
        </p:nvSpPr>
        <p:spPr>
          <a:xfrm>
            <a:off x="1270000" y="3300000"/>
            <a:ext cx="9652000" cy="482183"/>
          </a:xfrm>
          <a:prstGeom prst="rect">
            <a:avLst/>
          </a:prstGeom>
          <a:noFill/>
        </p:spPr>
        <p:txBody>
          <a:bodyPr vert="horz" wrap="square" lIns="50800" tIns="25400" rIns="50800" bIns="25400" rtlCol="0">
            <a:spAutoFit/>
          </a:bodyPr>
          <a:lstStyle/>
          <a:p>
            <a:pPr algn="ctr"/>
            <a:r>
              <a:rPr lang="en-US" sz="1400" dirty="0">
                <a:solidFill>
                  <a:srgbClr val="E2E8F0"/>
                </a:solidFill>
                <a:latin typeface="Segoe UI" panose="020B0502040204020203" pitchFamily="34" charset="0"/>
              </a:rPr>
              <a:t>Mathematical Sound Synthesis, ADSR Volume Modulation and Raw Binary RIFF/WAVE Serialization from First Principles in C++</a:t>
            </a:r>
            <a:endParaRPr lang="en-IN" sz="1300" dirty="0">
              <a:solidFill>
                <a:srgbClr val="E2E8F0"/>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86673F9-8E17-1033-9100-B15C3315ABA8}"/>
              </a:ext>
            </a:extLst>
          </p:cNvPr>
          <p:cNvSpPr/>
          <p:nvPr/>
        </p:nvSpPr>
        <p:spPr>
          <a:xfrm>
            <a:off x="4826000" y="4900000"/>
            <a:ext cx="2540000" cy="38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566D5D3-E12F-DF59-144F-44C83476C53B}"/>
              </a:ext>
            </a:extLst>
          </p:cNvPr>
          <p:cNvSpPr txBox="1"/>
          <p:nvPr/>
        </p:nvSpPr>
        <p:spPr>
          <a:xfrm>
            <a:off x="4826000" y="4960000"/>
            <a:ext cx="2540000" cy="220573"/>
          </a:xfrm>
          <a:prstGeom prst="rect">
            <a:avLst/>
          </a:prstGeom>
          <a:noFill/>
        </p:spPr>
        <p:txBody>
          <a:bodyPr vert="horz" wrap="square" lIns="50800" tIns="25400" rIns="50800" bIns="25400" rtlCol="0">
            <a:spAutoFit/>
          </a:bodyPr>
          <a:lstStyle/>
          <a:p>
            <a:pPr algn="ctr"/>
            <a:r>
              <a:rPr lang="en-IN" sz="1100" b="1" dirty="0">
                <a:solidFill>
                  <a:srgbClr val="38BDF8"/>
                </a:solidFill>
                <a:latin typeface="Segoe UI" panose="020B0502040204020203" pitchFamily="34" charset="0"/>
              </a:rPr>
              <a:t>TEAM MEMBERS</a:t>
            </a:r>
          </a:p>
        </p:txBody>
      </p:sp>
      <p:sp>
        <p:nvSpPr>
          <p:cNvPr id="9" name="TextBox 8">
            <a:extLst>
              <a:ext uri="{FF2B5EF4-FFF2-40B4-BE49-F238E27FC236}">
                <a16:creationId xmlns:a16="http://schemas.microsoft.com/office/drawing/2014/main" id="{4DA7E33F-87BB-0E1B-8389-B64A8430A4C2}"/>
              </a:ext>
            </a:extLst>
          </p:cNvPr>
          <p:cNvSpPr txBox="1"/>
          <p:nvPr/>
        </p:nvSpPr>
        <p:spPr>
          <a:xfrm>
            <a:off x="1270000" y="5400000"/>
            <a:ext cx="9652000" cy="328295"/>
          </a:xfrm>
          <a:prstGeom prst="rect">
            <a:avLst/>
          </a:prstGeom>
          <a:noFill/>
        </p:spPr>
        <p:txBody>
          <a:bodyPr vert="horz" wrap="square" lIns="50800" tIns="25400" rIns="50800" bIns="25400" rtlCol="0">
            <a:spAutoFit/>
          </a:bodyPr>
          <a:lstStyle/>
          <a:p>
            <a:pPr algn="ctr"/>
            <a:r>
              <a:rPr lang="en-IN" sz="1800" b="1" dirty="0">
                <a:solidFill>
                  <a:srgbClr val="FFFFFF"/>
                </a:solidFill>
                <a:latin typeface="Segoe UI" panose="020B0502040204020203" pitchFamily="34" charset="0"/>
              </a:rPr>
              <a:t>Shailesh (251150)  &amp;  Sirthik (251153)</a:t>
            </a:r>
          </a:p>
        </p:txBody>
      </p:sp>
      <p:sp>
        <p:nvSpPr>
          <p:cNvPr id="10" name="TextBox 9">
            <a:extLst>
              <a:ext uri="{FF2B5EF4-FFF2-40B4-BE49-F238E27FC236}">
                <a16:creationId xmlns:a16="http://schemas.microsoft.com/office/drawing/2014/main" id="{7829740C-8F3A-94CA-3432-75DABE1F877F}"/>
              </a:ext>
            </a:extLst>
          </p:cNvPr>
          <p:cNvSpPr txBox="1"/>
          <p:nvPr/>
        </p:nvSpPr>
        <p:spPr>
          <a:xfrm>
            <a:off x="1270000" y="6000000"/>
            <a:ext cx="9652000" cy="220573"/>
          </a:xfrm>
          <a:prstGeom prst="rect">
            <a:avLst/>
          </a:prstGeom>
          <a:noFill/>
        </p:spPr>
        <p:txBody>
          <a:bodyPr vert="horz" wrap="square" lIns="50800" tIns="25400" rIns="50800" bIns="25400" rtlCol="0">
            <a:spAutoFit/>
          </a:bodyPr>
          <a:lstStyle/>
          <a:p>
            <a:pPr algn="ctr"/>
            <a:r>
              <a:rPr lang="en-US" sz="1100" dirty="0">
                <a:solidFill>
                  <a:srgbClr val="94A3B8"/>
                </a:solidFill>
                <a:latin typeface="Segoe UI" panose="020B0502040204020203" pitchFamily="34" charset="0"/>
              </a:rPr>
              <a:t>Object-Oriented Programming in C++</a:t>
            </a:r>
            <a:endParaRPr lang="en-IN" sz="1000" dirty="0">
              <a:solidFill>
                <a:srgbClr val="94A3B8"/>
              </a:solidFill>
              <a:latin typeface="Segoe UI" panose="020B0502040204020203" pitchFamily="34" charset="0"/>
            </a:endParaRPr>
          </a:p>
        </p:txBody>
      </p:sp>
    </p:spTree>
    <p:extLst>
      <p:ext uri="{BB962C8B-B14F-4D97-AF65-F5344CB8AC3E}">
        <p14:creationId xmlns:p14="http://schemas.microsoft.com/office/powerpoint/2010/main" val="1717966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F172A"/>
          </a:solidFill>
          <a:ln>
            <a:noFill/>
          </a:ln>
        </p:spPr>
        <p:txBody>
          <a:bodyPr rtlCol="0" anchor="ctr"/>
          <a:lstStyle/>
          <a:p>
            <a:pPr algn="ctr"/>
            <a:endParaRPr lang="en-US"/>
          </a:p>
        </p:txBody>
      </p:sp>
      <p:sp>
        <p:nvSpPr>
          <p:cNvPr id="3" name="CategoryTracker"/>
          <p:cNvSpPr txBox="1"/>
          <p:nvPr/>
        </p:nvSpPr>
        <p:spPr>
          <a:xfrm>
            <a:off x="508000" y="228600"/>
            <a:ext cx="11176000" cy="205184"/>
          </a:xfrm>
          <a:prstGeom prst="rect">
            <a:avLst/>
          </a:prstGeom>
          <a:noFill/>
        </p:spPr>
        <p:txBody>
          <a:bodyPr vert="horz" wrap="square" lIns="0" tIns="0" rIns="0" bIns="0" rtlCol="0">
            <a:spAutoFit/>
          </a:bodyPr>
          <a:lstStyle/>
          <a:p>
            <a:r>
              <a:rPr lang="en-US" sz="1000" b="1">
                <a:solidFill>
                  <a:srgbClr val="38BDF8"/>
                </a:solidFill>
                <a:latin typeface="Segoe UI"/>
              </a:rPr>
              <a:t>PROBLEM STATEMENT &amp; SCOPE</a:t>
            </a:r>
          </a:p>
        </p:txBody>
      </p:sp>
      <p:sp>
        <p:nvSpPr>
          <p:cNvPr id="4" name="MainTitle"/>
          <p:cNvSpPr txBox="1"/>
          <p:nvPr/>
        </p:nvSpPr>
        <p:spPr>
          <a:xfrm>
            <a:off x="508000" y="431800"/>
            <a:ext cx="11176000" cy="359073"/>
          </a:xfrm>
          <a:prstGeom prst="rect">
            <a:avLst/>
          </a:prstGeom>
          <a:noFill/>
        </p:spPr>
        <p:txBody>
          <a:bodyPr vert="horz" wrap="square" lIns="0" tIns="0" rIns="0" bIns="0" rtlCol="0">
            <a:spAutoFit/>
          </a:bodyPr>
          <a:lstStyle/>
          <a:p>
            <a:r>
              <a:rPr lang="en-US" sz="2000" b="1">
                <a:solidFill>
                  <a:srgbClr val="FFFFFF"/>
                </a:solidFill>
                <a:latin typeface="Segoe UI"/>
              </a:rPr>
              <a:t>Problem Statement &amp; Engineering Goals</a:t>
            </a:r>
          </a:p>
        </p:txBody>
      </p:sp>
      <p:sp>
        <p:nvSpPr>
          <p:cNvPr id="5" name="Subtitle"/>
          <p:cNvSpPr txBox="1"/>
          <p:nvPr/>
        </p:nvSpPr>
        <p:spPr>
          <a:xfrm>
            <a:off x="508000" y="736600"/>
            <a:ext cx="11176000" cy="220573"/>
          </a:xfrm>
          <a:prstGeom prst="rect">
            <a:avLst/>
          </a:prstGeom>
          <a:noFill/>
        </p:spPr>
        <p:txBody>
          <a:bodyPr vert="horz" wrap="square" lIns="0" tIns="0" rIns="0" bIns="0" rtlCol="0">
            <a:spAutoFit/>
          </a:bodyPr>
          <a:lstStyle/>
          <a:p>
            <a:r>
              <a:rPr lang="en-US" sz="1100">
                <a:solidFill>
                  <a:srgbClr val="94A3B8"/>
                </a:solidFill>
                <a:latin typeface="Segoe UI"/>
              </a:rPr>
              <a:t>First-Principles Algorithmic Sound Synthesis &amp; Raw RIFF/WAVE Binary Serialization in C++17</a:t>
            </a:r>
          </a:p>
        </p:txBody>
      </p:sp>
      <p:cxnSp>
        <p:nvCxnSpPr>
          <p:cNvPr id="6" name="DividerLine"/>
          <p:cNvCxnSpPr/>
          <p:nvPr/>
        </p:nvCxnSpPr>
        <p:spPr>
          <a:xfrm>
            <a:off x="508000" y="990600"/>
            <a:ext cx="11176000" cy="0"/>
          </a:xfrm>
          <a:prstGeom prst="line">
            <a:avLst/>
          </a:prstGeom>
          <a:ln w="12700">
            <a:solidFill>
              <a:srgbClr val="334155"/>
            </a:solidFill>
          </a:ln>
        </p:spPr>
      </p:cxnSp>
      <p:sp>
        <p:nvSpPr>
          <p:cNvPr id="7" name="HeroCardOuter"/>
          <p:cNvSpPr/>
          <p:nvPr/>
        </p:nvSpPr>
        <p:spPr>
          <a:xfrm>
            <a:off x="508000" y="1130000"/>
            <a:ext cx="11176000" cy="1720000"/>
          </a:xfrm>
          <a:prstGeom prst="roundRect">
            <a:avLst/>
          </a:prstGeom>
          <a:solidFill>
            <a:srgbClr val="1E293B"/>
          </a:solidFill>
          <a:ln w="12700">
            <a:solidFill>
              <a:srgbClr val="334155"/>
            </a:solidFill>
          </a:ln>
        </p:spPr>
        <p:txBody>
          <a:bodyPr rtlCol="0" anchor="ctr"/>
          <a:lstStyle/>
          <a:p>
            <a:pPr algn="ctr"/>
            <a:endParaRPr lang="en-US"/>
          </a:p>
        </p:txBody>
      </p:sp>
      <p:sp>
        <p:nvSpPr>
          <p:cNvPr id="8" name="HeroCardTitle"/>
          <p:cNvSpPr txBox="1"/>
          <p:nvPr/>
        </p:nvSpPr>
        <p:spPr>
          <a:xfrm>
            <a:off x="728000" y="1365669"/>
            <a:ext cx="10732000" cy="215444"/>
          </a:xfrm>
          <a:prstGeom prst="rect">
            <a:avLst/>
          </a:prstGeom>
          <a:noFill/>
        </p:spPr>
        <p:txBody>
          <a:bodyPr vert="horz" wrap="square" lIns="0" tIns="0" rIns="0" bIns="0" rtlCol="0">
            <a:spAutoFit/>
          </a:bodyPr>
          <a:lstStyle/>
          <a:p>
            <a:r>
              <a:rPr lang="en-US" sz="1400" b="1" dirty="0">
                <a:solidFill>
                  <a:srgbClr val="38BDF8"/>
                </a:solidFill>
                <a:latin typeface="Segoe UI"/>
              </a:rPr>
              <a:t>CORE PROBLEM STATEMENT</a:t>
            </a:r>
          </a:p>
        </p:txBody>
      </p:sp>
      <p:sp>
        <p:nvSpPr>
          <p:cNvPr id="9" name="HeroQuoteBox"/>
          <p:cNvSpPr/>
          <p:nvPr/>
        </p:nvSpPr>
        <p:spPr>
          <a:xfrm>
            <a:off x="730000" y="1816781"/>
            <a:ext cx="10732000" cy="710799"/>
          </a:xfrm>
          <a:prstGeom prst="roundRect">
            <a:avLst/>
          </a:prstGeom>
          <a:solidFill>
            <a:srgbClr val="0B1120"/>
          </a:solidFill>
          <a:ln w="12700">
            <a:solidFill>
              <a:srgbClr val="38BDF8"/>
            </a:solidFill>
          </a:ln>
        </p:spPr>
        <p:txBody>
          <a:bodyPr vert="horz" wrap="square" lIns="180000" tIns="120000" rIns="180000" bIns="120000" rtlCol="0" anchor="ctr">
            <a:spAutoFit/>
          </a:bodyPr>
          <a:lstStyle/>
          <a:p>
            <a:r>
              <a:rPr lang="en-US" sz="1300" i="1" dirty="0">
                <a:solidFill>
                  <a:srgbClr val="FFFFFF"/>
                </a:solidFill>
                <a:latin typeface="Segoe UI"/>
              </a:rPr>
              <a:t>"Audio Synthesizer (WAV Generator): Generate audible wave files (sine, square, sawtooth). Requires: Abstract Oscillator and Envelope classes, writing raw binary data using formatted C++ file streams."</a:t>
            </a:r>
          </a:p>
        </p:txBody>
      </p:sp>
      <p:sp>
        <p:nvSpPr>
          <p:cNvPr id="11" name="BottomLeftCard"/>
          <p:cNvSpPr/>
          <p:nvPr/>
        </p:nvSpPr>
        <p:spPr>
          <a:xfrm>
            <a:off x="508000" y="2970000"/>
            <a:ext cx="5397500" cy="3550000"/>
          </a:xfrm>
          <a:prstGeom prst="roundRect">
            <a:avLst/>
          </a:prstGeom>
          <a:solidFill>
            <a:srgbClr val="1E293B"/>
          </a:solidFill>
          <a:ln w="12700">
            <a:solidFill>
              <a:srgbClr val="334155"/>
            </a:solidFill>
          </a:ln>
        </p:spPr>
        <p:txBody>
          <a:bodyPr rtlCol="0" anchor="ctr"/>
          <a:lstStyle/>
          <a:p>
            <a:pPr algn="ctr"/>
            <a:endParaRPr lang="en-US"/>
          </a:p>
        </p:txBody>
      </p:sp>
      <p:sp>
        <p:nvSpPr>
          <p:cNvPr id="12" name="BottomLeftTitle"/>
          <p:cNvSpPr txBox="1"/>
          <p:nvPr/>
        </p:nvSpPr>
        <p:spPr>
          <a:xfrm>
            <a:off x="730000" y="3100000"/>
            <a:ext cx="4950000" cy="215444"/>
          </a:xfrm>
          <a:prstGeom prst="rect">
            <a:avLst/>
          </a:prstGeom>
          <a:noFill/>
        </p:spPr>
        <p:txBody>
          <a:bodyPr vert="horz" wrap="square" lIns="0" tIns="0" rIns="0" bIns="0" rtlCol="0">
            <a:spAutoFit/>
          </a:bodyPr>
          <a:lstStyle/>
          <a:p>
            <a:pPr algn="ctr"/>
            <a:r>
              <a:rPr lang="en-US" sz="1400" b="1" dirty="0">
                <a:solidFill>
                  <a:srgbClr val="C084FC"/>
                </a:solidFill>
                <a:latin typeface="Segoe UI"/>
              </a:rPr>
              <a:t>CORE TECHNICAL REQUIREMENTS</a:t>
            </a:r>
          </a:p>
        </p:txBody>
      </p:sp>
      <p:sp>
        <p:nvSpPr>
          <p:cNvPr id="13" name="BottomLeftContent"/>
          <p:cNvSpPr txBox="1"/>
          <p:nvPr/>
        </p:nvSpPr>
        <p:spPr>
          <a:xfrm>
            <a:off x="730000" y="3420000"/>
            <a:ext cx="4950000" cy="1800493"/>
          </a:xfrm>
          <a:prstGeom prst="rect">
            <a:avLst/>
          </a:prstGeom>
          <a:noFill/>
        </p:spPr>
        <p:txBody>
          <a:bodyPr vert="horz" wrap="square" lIns="0" tIns="0" rIns="0" bIns="0" rtlCol="0">
            <a:spAutoFit/>
          </a:bodyPr>
          <a:lstStyle/>
          <a:p>
            <a:pPr marL="200000" indent="-180000">
              <a:buChar char="•"/>
            </a:pPr>
            <a:r>
              <a:rPr lang="en-US" sz="1300" b="1" dirty="0">
                <a:solidFill>
                  <a:srgbClr val="FFFFFF"/>
                </a:solidFill>
                <a:latin typeface="Segoe UI"/>
              </a:rPr>
              <a:t>Abstract Oscillator Hierarchy: </a:t>
            </a:r>
            <a:r>
              <a:rPr lang="en-US" sz="1300" dirty="0">
                <a:solidFill>
                  <a:srgbClr val="E2E8F0"/>
                </a:solidFill>
                <a:latin typeface="Segoe UI"/>
              </a:rPr>
              <a:t>Polymorphic base class defining pure virtual </a:t>
            </a:r>
            <a:r>
              <a:rPr lang="en-US" sz="1300" b="1" dirty="0" err="1">
                <a:solidFill>
                  <a:srgbClr val="FBBF24"/>
                </a:solidFill>
                <a:latin typeface="Segoe UI"/>
              </a:rPr>
              <a:t>nextSample</a:t>
            </a:r>
            <a:r>
              <a:rPr lang="en-US" sz="1300" b="1" dirty="0">
                <a:solidFill>
                  <a:srgbClr val="FBBF24"/>
                </a:solidFill>
                <a:latin typeface="Segoe UI"/>
              </a:rPr>
              <a:t>()</a:t>
            </a:r>
            <a:r>
              <a:rPr lang="en-US" sz="1300" dirty="0">
                <a:solidFill>
                  <a:srgbClr val="E2E8F0"/>
                </a:solidFill>
                <a:latin typeface="Segoe UI"/>
              </a:rPr>
              <a:t>, and concrete derived classes for Sine, Square, and Sawtooth generation.</a:t>
            </a:r>
          </a:p>
          <a:p>
            <a:pPr marL="200000" indent="-180000">
              <a:buChar char="•"/>
            </a:pPr>
            <a:r>
              <a:rPr lang="en-US" sz="1300" b="1" dirty="0">
                <a:solidFill>
                  <a:srgbClr val="FFFFFF"/>
                </a:solidFill>
                <a:latin typeface="Segoe UI"/>
              </a:rPr>
              <a:t>4-Stage ADSR Envelope : </a:t>
            </a:r>
            <a:r>
              <a:rPr lang="en-US" sz="1300" dirty="0">
                <a:solidFill>
                  <a:srgbClr val="E2E8F0"/>
                </a:solidFill>
                <a:latin typeface="Segoe UI"/>
              </a:rPr>
              <a:t>Piecewise linear amplitude curve (Attack, Decay, Sustain, Release) smoothly modulating audio to eliminate speaker cone clicks and abrupt step transients.</a:t>
            </a:r>
          </a:p>
          <a:p>
            <a:pPr marL="200000" indent="-180000">
              <a:buChar char="•"/>
            </a:pPr>
            <a:r>
              <a:rPr lang="en-US" sz="1300" b="1" dirty="0">
                <a:solidFill>
                  <a:srgbClr val="FFFFFF"/>
                </a:solidFill>
                <a:latin typeface="Segoe UI"/>
              </a:rPr>
              <a:t>Direct Binary Serialization: </a:t>
            </a:r>
            <a:r>
              <a:rPr lang="en-US" sz="1300" dirty="0">
                <a:solidFill>
                  <a:srgbClr val="E2E8F0"/>
                </a:solidFill>
                <a:latin typeface="Segoe UI"/>
              </a:rPr>
              <a:t>Standard 44-byte RIFF/WAVE header assembly and 16-bit signed PCM audio quantization serialized in Little-Endian byte order.</a:t>
            </a:r>
          </a:p>
        </p:txBody>
      </p:sp>
      <p:sp>
        <p:nvSpPr>
          <p:cNvPr id="14" name="BottomRightCard"/>
          <p:cNvSpPr/>
          <p:nvPr/>
        </p:nvSpPr>
        <p:spPr>
          <a:xfrm>
            <a:off x="6296125" y="2970000"/>
            <a:ext cx="5397500" cy="3550000"/>
          </a:xfrm>
          <a:prstGeom prst="roundRect">
            <a:avLst/>
          </a:prstGeom>
          <a:solidFill>
            <a:srgbClr val="1E293B"/>
          </a:solidFill>
          <a:ln w="12700">
            <a:solidFill>
              <a:srgbClr val="334155"/>
            </a:solidFill>
          </a:ln>
        </p:spPr>
        <p:txBody>
          <a:bodyPr rtlCol="0" anchor="ctr"/>
          <a:lstStyle/>
          <a:p>
            <a:pPr algn="ctr"/>
            <a:endParaRPr lang="en-US"/>
          </a:p>
        </p:txBody>
      </p:sp>
      <p:sp>
        <p:nvSpPr>
          <p:cNvPr id="15" name="BottomRightTitle"/>
          <p:cNvSpPr txBox="1"/>
          <p:nvPr/>
        </p:nvSpPr>
        <p:spPr>
          <a:xfrm>
            <a:off x="6510000" y="3100000"/>
            <a:ext cx="4950000" cy="215444"/>
          </a:xfrm>
          <a:prstGeom prst="rect">
            <a:avLst/>
          </a:prstGeom>
          <a:noFill/>
        </p:spPr>
        <p:txBody>
          <a:bodyPr vert="horz" wrap="square" lIns="0" tIns="0" rIns="0" bIns="0" rtlCol="0">
            <a:spAutoFit/>
          </a:bodyPr>
          <a:lstStyle/>
          <a:p>
            <a:pPr algn="ctr"/>
            <a:r>
              <a:rPr lang="en-US" sz="1400" b="1" dirty="0">
                <a:solidFill>
                  <a:srgbClr val="34D399"/>
                </a:solidFill>
                <a:latin typeface="Segoe UI"/>
              </a:rPr>
              <a:t>ARCHITECTURAL DELIVERABLES &amp; DESIGN</a:t>
            </a:r>
          </a:p>
        </p:txBody>
      </p:sp>
      <p:sp>
        <p:nvSpPr>
          <p:cNvPr id="16" name="BottomRightContent"/>
          <p:cNvSpPr txBox="1"/>
          <p:nvPr/>
        </p:nvSpPr>
        <p:spPr>
          <a:xfrm>
            <a:off x="6510000" y="3420000"/>
            <a:ext cx="4950000" cy="2400657"/>
          </a:xfrm>
          <a:prstGeom prst="rect">
            <a:avLst/>
          </a:prstGeom>
          <a:noFill/>
        </p:spPr>
        <p:txBody>
          <a:bodyPr vert="horz" wrap="square" lIns="0" tIns="0" rIns="0" bIns="0" rtlCol="0">
            <a:spAutoFit/>
          </a:bodyPr>
          <a:lstStyle/>
          <a:p>
            <a:pPr marL="200000" indent="-180000">
              <a:buChar char="•"/>
            </a:pPr>
            <a:r>
              <a:rPr lang="en-US" sz="1300" b="1" dirty="0">
                <a:solidFill>
                  <a:srgbClr val="FFFFFF"/>
                </a:solidFill>
                <a:latin typeface="Segoe UI"/>
              </a:rPr>
              <a:t> DSP Engine (</a:t>
            </a:r>
            <a:r>
              <a:rPr lang="en-US" sz="1300" b="1" dirty="0" err="1">
                <a:solidFill>
                  <a:srgbClr val="38BDF8"/>
                </a:solidFill>
                <a:latin typeface="Segoe UI"/>
              </a:rPr>
              <a:t>synth_core</a:t>
            </a:r>
            <a:r>
              <a:rPr lang="en-US" sz="1300" b="1" dirty="0">
                <a:solidFill>
                  <a:srgbClr val="FFFFFF"/>
                </a:solidFill>
                <a:latin typeface="Segoe UI"/>
              </a:rPr>
              <a:t>): </a:t>
            </a:r>
            <a:r>
              <a:rPr lang="en-US" sz="1300" dirty="0">
                <a:solidFill>
                  <a:srgbClr val="E2E8F0"/>
                </a:solidFill>
                <a:latin typeface="Segoe UI"/>
              </a:rPr>
              <a:t>Headless, reusable synthesis library housing the oscillator hierarchy, configuration structures (</a:t>
            </a:r>
            <a:r>
              <a:rPr lang="en-US" sz="1300" b="1" dirty="0" err="1">
                <a:solidFill>
                  <a:srgbClr val="FBBF24"/>
                </a:solidFill>
                <a:latin typeface="Segoe UI"/>
              </a:rPr>
              <a:t>SynthSettings</a:t>
            </a:r>
            <a:r>
              <a:rPr lang="en-US" sz="1300" dirty="0">
                <a:solidFill>
                  <a:srgbClr val="E2E8F0"/>
                </a:solidFill>
                <a:latin typeface="Segoe UI"/>
              </a:rPr>
              <a:t>), and sample render pipeline.</a:t>
            </a:r>
          </a:p>
          <a:p>
            <a:pPr marL="200000" indent="-180000">
              <a:buChar char="•"/>
            </a:pPr>
            <a:r>
              <a:rPr lang="en-US" sz="1300" b="1" dirty="0">
                <a:solidFill>
                  <a:srgbClr val="FFFFFF"/>
                </a:solidFill>
                <a:latin typeface="Segoe UI"/>
              </a:rPr>
              <a:t>Scriptable CLI Tool (</a:t>
            </a:r>
            <a:r>
              <a:rPr lang="en-US" sz="1300" b="1" dirty="0">
                <a:solidFill>
                  <a:srgbClr val="38BDF8"/>
                </a:solidFill>
                <a:latin typeface="Segoe UI"/>
              </a:rPr>
              <a:t>synth</a:t>
            </a:r>
            <a:r>
              <a:rPr lang="en-US" sz="1300" b="1" dirty="0">
                <a:solidFill>
                  <a:srgbClr val="FFFFFF"/>
                </a:solidFill>
                <a:latin typeface="Segoe UI"/>
              </a:rPr>
              <a:t>): </a:t>
            </a:r>
            <a:r>
              <a:rPr lang="en-US" sz="1300" dirty="0">
                <a:solidFill>
                  <a:srgbClr val="E2E8F0"/>
                </a:solidFill>
                <a:latin typeface="Segoe UI"/>
              </a:rPr>
              <a:t>High-throughput command-line interface parsing parameter flags (</a:t>
            </a:r>
            <a:r>
              <a:rPr lang="en-US" sz="1300" b="1" dirty="0">
                <a:solidFill>
                  <a:srgbClr val="34D399"/>
                </a:solidFill>
                <a:latin typeface="Segoe UI"/>
              </a:rPr>
              <a:t>--wave, --</a:t>
            </a:r>
            <a:r>
              <a:rPr lang="en-US" sz="1300" b="1" dirty="0" err="1">
                <a:solidFill>
                  <a:srgbClr val="34D399"/>
                </a:solidFill>
                <a:latin typeface="Segoe UI"/>
              </a:rPr>
              <a:t>freq</a:t>
            </a:r>
            <a:r>
              <a:rPr lang="en-US" sz="1300" b="1" dirty="0">
                <a:solidFill>
                  <a:srgbClr val="34D399"/>
                </a:solidFill>
                <a:latin typeface="Segoe UI"/>
              </a:rPr>
              <a:t>, --</a:t>
            </a:r>
            <a:r>
              <a:rPr lang="en-US" sz="1300" b="1" dirty="0" err="1">
                <a:solidFill>
                  <a:srgbClr val="34D399"/>
                </a:solidFill>
                <a:latin typeface="Segoe UI"/>
              </a:rPr>
              <a:t>adsr</a:t>
            </a:r>
            <a:r>
              <a:rPr lang="en-US" sz="1300" b="1" dirty="0">
                <a:solidFill>
                  <a:srgbClr val="34D399"/>
                </a:solidFill>
                <a:latin typeface="Segoe UI"/>
              </a:rPr>
              <a:t>, --out</a:t>
            </a:r>
            <a:r>
              <a:rPr lang="en-US" sz="1300" dirty="0">
                <a:solidFill>
                  <a:srgbClr val="E2E8F0"/>
                </a:solidFill>
                <a:latin typeface="Segoe UI"/>
              </a:rPr>
              <a:t>) for automated batch rendering pipelines.</a:t>
            </a:r>
          </a:p>
          <a:p>
            <a:pPr marL="200000" indent="-180000">
              <a:buChar char="•"/>
            </a:pPr>
            <a:r>
              <a:rPr lang="en-US" sz="1300" b="1" dirty="0">
                <a:solidFill>
                  <a:srgbClr val="FFFFFF"/>
                </a:solidFill>
                <a:latin typeface="Segoe UI"/>
              </a:rPr>
              <a:t>Interactive Terminal GUI (</a:t>
            </a:r>
            <a:r>
              <a:rPr lang="en-US" sz="1300" b="1" dirty="0">
                <a:solidFill>
                  <a:srgbClr val="38BDF8"/>
                </a:solidFill>
                <a:latin typeface="Segoe UI"/>
              </a:rPr>
              <a:t>synth-tui</a:t>
            </a:r>
            <a:r>
              <a:rPr lang="en-US" sz="1300" b="1" dirty="0">
                <a:solidFill>
                  <a:srgbClr val="FFFFFF"/>
                </a:solidFill>
                <a:latin typeface="Segoe UI"/>
              </a:rPr>
              <a:t>): </a:t>
            </a:r>
            <a:r>
              <a:rPr lang="en-US" sz="1300" dirty="0">
                <a:solidFill>
                  <a:srgbClr val="E2E8F0"/>
                </a:solidFill>
                <a:latin typeface="Segoe UI"/>
              </a:rPr>
              <a:t>Terminal dashboard built with FTXUI, featuring live Unicode Braille oscilloscopic waveform canvas, interactive ADSR graphs, and sliders.</a:t>
            </a:r>
          </a:p>
          <a:p>
            <a:pPr marL="200000" indent="-180000">
              <a:buChar char="•"/>
            </a:pPr>
            <a:r>
              <a:rPr lang="en-US" sz="1300" b="1" dirty="0">
                <a:solidFill>
                  <a:srgbClr val="34D399"/>
                </a:solidFill>
                <a:latin typeface="Segoe UI"/>
              </a:rPr>
              <a:t>Zero External Codec Principle: </a:t>
            </a:r>
            <a:r>
              <a:rPr lang="en-US" sz="1300" dirty="0">
                <a:solidFill>
                  <a:srgbClr val="E2E8F0"/>
                </a:solidFill>
                <a:latin typeface="Segoe UI"/>
              </a:rPr>
              <a:t>100% self-contained sound synthesis without external audio codecs or proprietary SDKs, achieving cross-platform portability on both x86 and ARM.</a:t>
            </a:r>
          </a:p>
        </p:txBody>
      </p:sp>
    </p:spTree>
    <p:extLst>
      <p:ext uri="{BB962C8B-B14F-4D97-AF65-F5344CB8AC3E}">
        <p14:creationId xmlns:p14="http://schemas.microsoft.com/office/powerpoint/2010/main" val="904537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AEEECF-FE46-1AE3-3BF5-6F75B32BF37E}"/>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DFD0378-BA2F-B476-4315-50AEF53FE619}"/>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SYSTEM ARCHITECTURE</a:t>
            </a:r>
          </a:p>
        </p:txBody>
      </p:sp>
      <p:sp>
        <p:nvSpPr>
          <p:cNvPr id="4" name="TextBox 3">
            <a:extLst>
              <a:ext uri="{FF2B5EF4-FFF2-40B4-BE49-F238E27FC236}">
                <a16:creationId xmlns:a16="http://schemas.microsoft.com/office/drawing/2014/main" id="{5809AAB5-83DA-AF85-3B86-03E03526DA82}"/>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System Architecture</a:t>
            </a:r>
          </a:p>
        </p:txBody>
      </p:sp>
      <p:sp>
        <p:nvSpPr>
          <p:cNvPr id="5" name="TextBox 4">
            <a:extLst>
              <a:ext uri="{FF2B5EF4-FFF2-40B4-BE49-F238E27FC236}">
                <a16:creationId xmlns:a16="http://schemas.microsoft.com/office/drawing/2014/main" id="{A8E69016-FF93-2893-C75B-46B12F08B8BC}"/>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Strict Separation of Concerns between UI, DSP Engine, and Storage</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DD062600-6498-1A09-B2CF-ADCBCEEC1D06}"/>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329577A-B5BE-63F3-AD83-4E4AD2CEF5B1}"/>
              </a:ext>
            </a:extLst>
          </p:cNvPr>
          <p:cNvSpPr/>
          <p:nvPr/>
        </p:nvSpPr>
        <p:spPr>
          <a:xfrm>
            <a:off x="508000" y="1143000"/>
            <a:ext cx="6223000" cy="5334000"/>
          </a:xfrm>
          <a:prstGeom prst="rect">
            <a:avLst/>
          </a:prstGeom>
          <a:solidFill>
            <a:srgbClr val="FFFFFF"/>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9246E715-BD7B-5FDD-8FB3-54425BF4A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295400"/>
            <a:ext cx="5918200" cy="5029200"/>
          </a:xfrm>
          <a:prstGeom prst="rect">
            <a:avLst/>
          </a:prstGeom>
        </p:spPr>
      </p:pic>
      <p:sp>
        <p:nvSpPr>
          <p:cNvPr id="10" name="Rectangle: Rounded Corners 9">
            <a:extLst>
              <a:ext uri="{FF2B5EF4-FFF2-40B4-BE49-F238E27FC236}">
                <a16:creationId xmlns:a16="http://schemas.microsoft.com/office/drawing/2014/main" id="{B1EF1AFC-8AB0-167D-61DB-E677F8816BBF}"/>
              </a:ext>
            </a:extLst>
          </p:cNvPr>
          <p:cNvSpPr/>
          <p:nvPr/>
        </p:nvSpPr>
        <p:spPr>
          <a:xfrm>
            <a:off x="6985000" y="1143000"/>
            <a:ext cx="4699000" cy="1651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0398FBFF-9A8E-4893-025C-DDE515525790}"/>
              </a:ext>
            </a:extLst>
          </p:cNvPr>
          <p:cNvSpPr txBox="1"/>
          <p:nvPr/>
        </p:nvSpPr>
        <p:spPr>
          <a:xfrm>
            <a:off x="7175500" y="1295400"/>
            <a:ext cx="43180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1. USER INTERFACE LAYER</a:t>
            </a:r>
          </a:p>
        </p:txBody>
      </p:sp>
      <p:sp>
        <p:nvSpPr>
          <p:cNvPr id="12" name="TextBox 11">
            <a:extLst>
              <a:ext uri="{FF2B5EF4-FFF2-40B4-BE49-F238E27FC236}">
                <a16:creationId xmlns:a16="http://schemas.microsoft.com/office/drawing/2014/main" id="{00EFA3BE-98FC-4523-E6D7-1218B5FEE5D0}"/>
              </a:ext>
            </a:extLst>
          </p:cNvPr>
          <p:cNvSpPr txBox="1"/>
          <p:nvPr/>
        </p:nvSpPr>
        <p:spPr>
          <a:xfrm>
            <a:off x="7175500" y="1600200"/>
            <a:ext cx="4318000" cy="105157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CLI : Scriptable tool for automated batch generation and command-line pipelines.</a:t>
            </a:r>
          </a:p>
          <a:p>
            <a:r>
              <a:rPr lang="en-US" sz="1300" dirty="0">
                <a:solidFill>
                  <a:srgbClr val="E2E8F0"/>
                </a:solidFill>
                <a:latin typeface="Segoe UI" panose="020B0502040204020203" pitchFamily="34" charset="0"/>
              </a:rPr>
              <a:t>
Interactive TUI : Terminal GUI with real-time sliders and  canvas graphs.</a:t>
            </a:r>
            <a:endParaRPr lang="en-IN" sz="13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4AA86C5E-8621-F452-FC6F-ED37E1305FFB}"/>
              </a:ext>
            </a:extLst>
          </p:cNvPr>
          <p:cNvSpPr/>
          <p:nvPr/>
        </p:nvSpPr>
        <p:spPr>
          <a:xfrm>
            <a:off x="6964680" y="2946400"/>
            <a:ext cx="4699000" cy="18415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09EC5B0-3CCD-9CC9-DFED-F03B9F9B81F8}"/>
              </a:ext>
            </a:extLst>
          </p:cNvPr>
          <p:cNvSpPr txBox="1"/>
          <p:nvPr/>
        </p:nvSpPr>
        <p:spPr>
          <a:xfrm>
            <a:off x="7175500" y="3073400"/>
            <a:ext cx="4318000" cy="266740"/>
          </a:xfrm>
          <a:prstGeom prst="rect">
            <a:avLst/>
          </a:prstGeom>
          <a:noFill/>
        </p:spPr>
        <p:txBody>
          <a:bodyPr vert="horz" wrap="square" lIns="50800" tIns="25400" rIns="50800" bIns="25400" rtlCol="0">
            <a:spAutoFit/>
          </a:bodyPr>
          <a:lstStyle/>
          <a:p>
            <a:r>
              <a:rPr lang="en-US" sz="1400" b="1" dirty="0">
                <a:solidFill>
                  <a:srgbClr val="C084FC"/>
                </a:solidFill>
                <a:latin typeface="Segoe UI" panose="020B0502040204020203" pitchFamily="34" charset="0"/>
              </a:rPr>
              <a:t>2. DSP CORE (synth_core)</a:t>
            </a:r>
            <a:endParaRPr lang="en-IN" sz="1400" b="1" dirty="0">
              <a:solidFill>
                <a:srgbClr val="C084FC"/>
              </a:solidFill>
              <a:latin typeface="Segoe UI" panose="020B0502040204020203" pitchFamily="34" charset="0"/>
            </a:endParaRPr>
          </a:p>
        </p:txBody>
      </p:sp>
      <p:sp>
        <p:nvSpPr>
          <p:cNvPr id="15" name="TextBox 14">
            <a:extLst>
              <a:ext uri="{FF2B5EF4-FFF2-40B4-BE49-F238E27FC236}">
                <a16:creationId xmlns:a16="http://schemas.microsoft.com/office/drawing/2014/main" id="{928734EF-551A-594E-1480-158CE2F0EA97}"/>
              </a:ext>
            </a:extLst>
          </p:cNvPr>
          <p:cNvSpPr txBox="1"/>
          <p:nvPr/>
        </p:nvSpPr>
        <p:spPr>
          <a:xfrm>
            <a:off x="7175500" y="3352800"/>
            <a:ext cx="4318000" cy="451406"/>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Synthesis engine containing Oscillator base hierarchy, dynamic Envelope shaper, and render pipeline:</a:t>
            </a:r>
            <a:endParaRPr lang="en-IN" sz="1300" dirty="0">
              <a:solidFill>
                <a:srgbClr val="E2E8F0"/>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38CE9B3E-970A-4438-D698-FCEF7FE68DA8}"/>
              </a:ext>
            </a:extLst>
          </p:cNvPr>
          <p:cNvSpPr/>
          <p:nvPr/>
        </p:nvSpPr>
        <p:spPr>
          <a:xfrm>
            <a:off x="7213600" y="4131260"/>
            <a:ext cx="4318000" cy="381000"/>
          </a:xfrm>
          <a:prstGeom prst="roundRect">
            <a:avLst/>
          </a:prstGeom>
          <a:solidFill>
            <a:srgbClr val="0B1120"/>
          </a:solidFill>
          <a:ln w="12700">
            <a:solidFill>
              <a:srgbClr val="C084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FB4CBCFF-AEA5-4A43-0046-47447A626F0B}"/>
              </a:ext>
            </a:extLst>
          </p:cNvPr>
          <p:cNvSpPr txBox="1"/>
          <p:nvPr/>
        </p:nvSpPr>
        <p:spPr>
          <a:xfrm>
            <a:off x="7239000" y="4198987"/>
            <a:ext cx="4191000" cy="220573"/>
          </a:xfrm>
          <a:prstGeom prst="rect">
            <a:avLst/>
          </a:prstGeom>
          <a:noFill/>
        </p:spPr>
        <p:txBody>
          <a:bodyPr vert="horz" wrap="square" lIns="50800" tIns="25400" rIns="50800" bIns="25400" rtlCol="0">
            <a:spAutoFit/>
          </a:bodyPr>
          <a:lstStyle/>
          <a:p>
            <a:pPr algn="ctr"/>
            <a:r>
              <a:rPr lang="en-IN" sz="1100" b="1" dirty="0">
                <a:solidFill>
                  <a:srgbClr val="FBBF24"/>
                </a:solidFill>
                <a:latin typeface="Consolas" panose="020B0609020204030204" pitchFamily="49" charset="0"/>
              </a:rPr>
              <a:t>sample[</a:t>
            </a:r>
            <a:r>
              <a:rPr lang="en-IN" sz="1100" b="1" dirty="0" err="1">
                <a:solidFill>
                  <a:srgbClr val="FBBF24"/>
                </a:solidFill>
                <a:latin typeface="Consolas" panose="020B0609020204030204" pitchFamily="49" charset="0"/>
              </a:rPr>
              <a:t>i</a:t>
            </a:r>
            <a:r>
              <a:rPr lang="en-IN" sz="1100" b="1" dirty="0">
                <a:solidFill>
                  <a:srgbClr val="FBBF24"/>
                </a:solidFill>
                <a:latin typeface="Consolas" panose="020B0609020204030204" pitchFamily="49" charset="0"/>
              </a:rPr>
              <a:t>] = </a:t>
            </a:r>
            <a:r>
              <a:rPr lang="en-IN" sz="1100" b="1" dirty="0" err="1">
                <a:solidFill>
                  <a:srgbClr val="FBBF24"/>
                </a:solidFill>
                <a:latin typeface="Consolas" panose="020B0609020204030204" pitchFamily="49" charset="0"/>
              </a:rPr>
              <a:t>osc</a:t>
            </a:r>
            <a:r>
              <a:rPr lang="en-IN" sz="1100" b="1" dirty="0">
                <a:solidFill>
                  <a:srgbClr val="FBBF24"/>
                </a:solidFill>
                <a:latin typeface="Consolas" panose="020B0609020204030204" pitchFamily="49" charset="0"/>
              </a:rPr>
              <a:t> * env * amp</a:t>
            </a:r>
          </a:p>
        </p:txBody>
      </p:sp>
      <p:sp>
        <p:nvSpPr>
          <p:cNvPr id="18" name="Rectangle: Rounded Corners 17">
            <a:extLst>
              <a:ext uri="{FF2B5EF4-FFF2-40B4-BE49-F238E27FC236}">
                <a16:creationId xmlns:a16="http://schemas.microsoft.com/office/drawing/2014/main" id="{D999C95A-046E-19B1-0784-BC0E705F4CB8}"/>
              </a:ext>
            </a:extLst>
          </p:cNvPr>
          <p:cNvSpPr/>
          <p:nvPr/>
        </p:nvSpPr>
        <p:spPr>
          <a:xfrm>
            <a:off x="6985000" y="4927600"/>
            <a:ext cx="4699000" cy="15494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31712C26-E805-B581-07DA-7CA56C8BD951}"/>
              </a:ext>
            </a:extLst>
          </p:cNvPr>
          <p:cNvSpPr txBox="1"/>
          <p:nvPr/>
        </p:nvSpPr>
        <p:spPr>
          <a:xfrm>
            <a:off x="7175500" y="5054600"/>
            <a:ext cx="4318000" cy="266740"/>
          </a:xfrm>
          <a:prstGeom prst="rect">
            <a:avLst/>
          </a:prstGeom>
          <a:noFill/>
        </p:spPr>
        <p:txBody>
          <a:bodyPr vert="horz" wrap="square" lIns="50800" tIns="25400" rIns="50800" bIns="25400" rtlCol="0">
            <a:spAutoFit/>
          </a:bodyPr>
          <a:lstStyle/>
          <a:p>
            <a:r>
              <a:rPr lang="en-IN" sz="1400" b="1" dirty="0">
                <a:solidFill>
                  <a:srgbClr val="34D399"/>
                </a:solidFill>
                <a:latin typeface="Segoe UI" panose="020B0502040204020203" pitchFamily="34" charset="0"/>
              </a:rPr>
              <a:t>3. STORAGE &amp; OUTPUT LAYER</a:t>
            </a:r>
          </a:p>
        </p:txBody>
      </p:sp>
      <p:sp>
        <p:nvSpPr>
          <p:cNvPr id="20" name="TextBox 19">
            <a:extLst>
              <a:ext uri="{FF2B5EF4-FFF2-40B4-BE49-F238E27FC236}">
                <a16:creationId xmlns:a16="http://schemas.microsoft.com/office/drawing/2014/main" id="{F9C5B2BC-A914-7CCB-7386-4E015EFCDF80}"/>
              </a:ext>
            </a:extLst>
          </p:cNvPr>
          <p:cNvSpPr txBox="1"/>
          <p:nvPr/>
        </p:nvSpPr>
        <p:spPr>
          <a:xfrm>
            <a:off x="7175500" y="5359400"/>
            <a:ext cx="4318000" cy="451406"/>
          </a:xfrm>
          <a:prstGeom prst="rect">
            <a:avLst/>
          </a:prstGeom>
          <a:noFill/>
        </p:spPr>
        <p:txBody>
          <a:bodyPr vert="horz" wrap="square" lIns="50800" tIns="25400" rIns="50800" bIns="25400" rtlCol="0">
            <a:spAutoFit/>
          </a:bodyPr>
          <a:lstStyle/>
          <a:p>
            <a:r>
              <a:rPr lang="en-US" sz="1300" dirty="0" err="1">
                <a:solidFill>
                  <a:srgbClr val="E2E8F0"/>
                </a:solidFill>
                <a:latin typeface="Segoe UI" panose="020B0502040204020203" pitchFamily="34" charset="0"/>
              </a:rPr>
              <a:t>WavWriter</a:t>
            </a:r>
            <a:r>
              <a:rPr lang="en-US" sz="1300" dirty="0">
                <a:solidFill>
                  <a:srgbClr val="E2E8F0"/>
                </a:solidFill>
                <a:latin typeface="Segoe UI" panose="020B0502040204020203" pitchFamily="34" charset="0"/>
              </a:rPr>
              <a:t> handles 16-bit PCM quantization, Little-Endian bit shifts, and RIFF 44-byte binary serialization to disk.</a:t>
            </a:r>
            <a:endParaRPr lang="en-IN" sz="1300" dirty="0">
              <a:solidFill>
                <a:srgbClr val="E2E8F0"/>
              </a:solidFill>
              <a:latin typeface="Segoe UI" panose="020B0502040204020203" pitchFamily="34" charset="0"/>
            </a:endParaRPr>
          </a:p>
        </p:txBody>
      </p:sp>
    </p:spTree>
    <p:extLst>
      <p:ext uri="{BB962C8B-B14F-4D97-AF65-F5344CB8AC3E}">
        <p14:creationId xmlns:p14="http://schemas.microsoft.com/office/powerpoint/2010/main" val="1567610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1FDB78-11D5-AB24-4B44-4B0CE8314BF7}"/>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FC39B01-2BBE-C591-2FF0-098D0CFB23F6}"/>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OBJECT-ORIENTED DESIGN</a:t>
            </a:r>
          </a:p>
        </p:txBody>
      </p:sp>
      <p:sp>
        <p:nvSpPr>
          <p:cNvPr id="4" name="TextBox 3">
            <a:extLst>
              <a:ext uri="{FF2B5EF4-FFF2-40B4-BE49-F238E27FC236}">
                <a16:creationId xmlns:a16="http://schemas.microsoft.com/office/drawing/2014/main" id="{4A672EFF-C251-1214-8735-85FCC9DAA9ED}"/>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US" sz="2000" b="1">
                <a:solidFill>
                  <a:srgbClr val="FFFFFF"/>
                </a:solidFill>
                <a:latin typeface="Segoe UI" panose="020B0502040204020203" pitchFamily="34" charset="0"/>
              </a:rPr>
              <a:t>UML Class Hierarchy &amp; Design Patterns</a:t>
            </a:r>
            <a:endParaRPr lang="en-IN"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FFC243E9-B172-7DAF-A10A-B4C6951641C4}"/>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Dynamic Polymorphism &amp; Abstract Class Hierarchy</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6A860B50-B075-E2B7-65DF-16CF866ACEB8}"/>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AC0D5F38-70BC-4452-F0B6-8B84FC781A72}"/>
              </a:ext>
            </a:extLst>
          </p:cNvPr>
          <p:cNvSpPr/>
          <p:nvPr/>
        </p:nvSpPr>
        <p:spPr>
          <a:xfrm>
            <a:off x="508000" y="1143000"/>
            <a:ext cx="6223000" cy="5334000"/>
          </a:xfrm>
          <a:prstGeom prst="rect">
            <a:avLst/>
          </a:prstGeom>
          <a:solidFill>
            <a:srgbClr val="FFFFFF"/>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80BF4AC1-F5CF-8F16-9717-1666DA2CA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 y="1295400"/>
            <a:ext cx="5918200" cy="5029200"/>
          </a:xfrm>
          <a:prstGeom prst="rect">
            <a:avLst/>
          </a:prstGeom>
        </p:spPr>
      </p:pic>
      <p:sp>
        <p:nvSpPr>
          <p:cNvPr id="10" name="Rectangle: Rounded Corners 9">
            <a:extLst>
              <a:ext uri="{FF2B5EF4-FFF2-40B4-BE49-F238E27FC236}">
                <a16:creationId xmlns:a16="http://schemas.microsoft.com/office/drawing/2014/main" id="{820D80B5-FF8A-7EB0-8FA3-919F15DF1183}"/>
              </a:ext>
            </a:extLst>
          </p:cNvPr>
          <p:cNvSpPr/>
          <p:nvPr/>
        </p:nvSpPr>
        <p:spPr>
          <a:xfrm>
            <a:off x="6985000" y="1500000"/>
            <a:ext cx="4699000" cy="220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96AC5F0-A5C4-8828-2EC3-2027AE2DF979}"/>
              </a:ext>
            </a:extLst>
          </p:cNvPr>
          <p:cNvSpPr txBox="1"/>
          <p:nvPr/>
        </p:nvSpPr>
        <p:spPr>
          <a:xfrm>
            <a:off x="7175500" y="1650000"/>
            <a:ext cx="43180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ABSTRACT BASE: Oscillator</a:t>
            </a:r>
          </a:p>
        </p:txBody>
      </p:sp>
      <p:sp>
        <p:nvSpPr>
          <p:cNvPr id="12" name="TextBox 11">
            <a:extLst>
              <a:ext uri="{FF2B5EF4-FFF2-40B4-BE49-F238E27FC236}">
                <a16:creationId xmlns:a16="http://schemas.microsoft.com/office/drawing/2014/main" id="{4EDAB0A1-2F7E-7F97-1DAE-ABCD8DB13F6B}"/>
              </a:ext>
            </a:extLst>
          </p:cNvPr>
          <p:cNvSpPr txBox="1"/>
          <p:nvPr/>
        </p:nvSpPr>
        <p:spPr>
          <a:xfrm>
            <a:off x="7175500" y="2166740"/>
            <a:ext cx="4318000" cy="65146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Protected State: frequency_, </a:t>
            </a:r>
            <a:r>
              <a:rPr lang="en-US" sz="1300" dirty="0" err="1">
                <a:solidFill>
                  <a:srgbClr val="E2E8F0"/>
                </a:solidFill>
                <a:latin typeface="Segoe UI" panose="020B0502040204020203" pitchFamily="34" charset="0"/>
              </a:rPr>
              <a:t>sampleRate</a:t>
            </a:r>
            <a:r>
              <a:rPr lang="en-US" sz="1300" dirty="0">
                <a:solidFill>
                  <a:srgbClr val="E2E8F0"/>
                </a:solidFill>
                <a:latin typeface="Segoe UI" panose="020B0502040204020203" pitchFamily="34" charset="0"/>
              </a:rPr>
              <a:t>_, phase_.
Pure Virtual: virtual double </a:t>
            </a:r>
            <a:r>
              <a:rPr lang="en-US" sz="1300" dirty="0" err="1">
                <a:solidFill>
                  <a:srgbClr val="E2E8F0"/>
                </a:solidFill>
                <a:latin typeface="Segoe UI" panose="020B0502040204020203" pitchFamily="34" charset="0"/>
              </a:rPr>
              <a:t>nextSample</a:t>
            </a:r>
            <a:r>
              <a:rPr lang="en-US" sz="1300" dirty="0">
                <a:solidFill>
                  <a:srgbClr val="E2E8F0"/>
                </a:solidFill>
                <a:latin typeface="Segoe UI" panose="020B0502040204020203" pitchFamily="34" charset="0"/>
              </a:rPr>
              <a:t>() = 0;
Encapsulated Engine: </a:t>
            </a:r>
            <a:r>
              <a:rPr lang="en-US" sz="1300" dirty="0" err="1">
                <a:solidFill>
                  <a:srgbClr val="E2E8F0"/>
                </a:solidFill>
                <a:latin typeface="Segoe UI" panose="020B0502040204020203" pitchFamily="34" charset="0"/>
              </a:rPr>
              <a:t>advancePhase</a:t>
            </a:r>
            <a:r>
              <a:rPr lang="en-US" sz="1300" dirty="0">
                <a:solidFill>
                  <a:srgbClr val="E2E8F0"/>
                </a:solidFill>
                <a:latin typeface="Segoe UI" panose="020B0502040204020203" pitchFamily="34" charset="0"/>
              </a:rPr>
              <a:t>() with wrap-around.</a:t>
            </a:r>
            <a:endParaRPr lang="en-IN" sz="13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216D6962-398E-2C65-79D6-02D44AE498FD}"/>
              </a:ext>
            </a:extLst>
          </p:cNvPr>
          <p:cNvSpPr/>
          <p:nvPr/>
        </p:nvSpPr>
        <p:spPr>
          <a:xfrm>
            <a:off x="6985000" y="3950000"/>
            <a:ext cx="4699000" cy="220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6C3B50F-D703-5DCF-CB03-7A98E7555B07}"/>
              </a:ext>
            </a:extLst>
          </p:cNvPr>
          <p:cNvSpPr txBox="1"/>
          <p:nvPr/>
        </p:nvSpPr>
        <p:spPr>
          <a:xfrm>
            <a:off x="7175500" y="4100000"/>
            <a:ext cx="4318000" cy="266740"/>
          </a:xfrm>
          <a:prstGeom prst="rect">
            <a:avLst/>
          </a:prstGeom>
          <a:noFill/>
        </p:spPr>
        <p:txBody>
          <a:bodyPr vert="horz" wrap="square" lIns="50800" tIns="25400" rIns="50800" bIns="25400" rtlCol="0">
            <a:spAutoFit/>
          </a:bodyPr>
          <a:lstStyle/>
          <a:p>
            <a:r>
              <a:rPr lang="en-IN" sz="1400" b="1" dirty="0">
                <a:solidFill>
                  <a:srgbClr val="C084FC"/>
                </a:solidFill>
                <a:latin typeface="Segoe UI" panose="020B0502040204020203" pitchFamily="34" charset="0"/>
              </a:rPr>
              <a:t>DYNAMIC POLYMORPHISM</a:t>
            </a:r>
          </a:p>
        </p:txBody>
      </p:sp>
      <p:sp>
        <p:nvSpPr>
          <p:cNvPr id="15" name="TextBox 14">
            <a:extLst>
              <a:ext uri="{FF2B5EF4-FFF2-40B4-BE49-F238E27FC236}">
                <a16:creationId xmlns:a16="http://schemas.microsoft.com/office/drawing/2014/main" id="{D41664E7-1512-A1FF-9D88-E5A79399747C}"/>
              </a:ext>
            </a:extLst>
          </p:cNvPr>
          <p:cNvSpPr txBox="1"/>
          <p:nvPr/>
        </p:nvSpPr>
        <p:spPr>
          <a:xfrm>
            <a:off x="7175500" y="4616740"/>
            <a:ext cx="4318000" cy="651460"/>
          </a:xfrm>
          <a:prstGeom prst="rect">
            <a:avLst/>
          </a:prstGeom>
          <a:noFill/>
        </p:spPr>
        <p:txBody>
          <a:bodyPr vert="horz" wrap="square" lIns="50800" tIns="25400" rIns="50800" bIns="25400" rtlCol="0">
            <a:spAutoFit/>
          </a:bodyPr>
          <a:lstStyle/>
          <a:p>
            <a:r>
              <a:rPr lang="en-IN" sz="1300" dirty="0" err="1">
                <a:solidFill>
                  <a:srgbClr val="E2E8F0"/>
                </a:solidFill>
                <a:latin typeface="Segoe UI" panose="020B0502040204020203" pitchFamily="34" charset="0"/>
              </a:rPr>
              <a:t>SineOscillator</a:t>
            </a:r>
            <a:r>
              <a:rPr lang="en-IN" sz="1300" dirty="0">
                <a:solidFill>
                  <a:srgbClr val="E2E8F0"/>
                </a:solidFill>
                <a:latin typeface="Segoe UI" panose="020B0502040204020203" pitchFamily="34" charset="0"/>
              </a:rPr>
              <a:t>, </a:t>
            </a:r>
            <a:r>
              <a:rPr lang="en-IN" sz="1300" dirty="0" err="1">
                <a:solidFill>
                  <a:srgbClr val="E2E8F0"/>
                </a:solidFill>
                <a:latin typeface="Segoe UI" panose="020B0502040204020203" pitchFamily="34" charset="0"/>
              </a:rPr>
              <a:t>SquareOscillator</a:t>
            </a:r>
            <a:r>
              <a:rPr lang="en-IN" sz="1300" dirty="0">
                <a:solidFill>
                  <a:srgbClr val="E2E8F0"/>
                </a:solidFill>
                <a:latin typeface="Segoe UI" panose="020B0502040204020203" pitchFamily="34" charset="0"/>
              </a:rPr>
              <a:t>, and </a:t>
            </a:r>
            <a:r>
              <a:rPr lang="en-IN" sz="1300" dirty="0" err="1">
                <a:solidFill>
                  <a:srgbClr val="E2E8F0"/>
                </a:solidFill>
                <a:latin typeface="Segoe UI" panose="020B0502040204020203" pitchFamily="34" charset="0"/>
              </a:rPr>
              <a:t>SawtoothOscillator</a:t>
            </a:r>
            <a:r>
              <a:rPr lang="en-IN" sz="1300" dirty="0">
                <a:solidFill>
                  <a:srgbClr val="E2E8F0"/>
                </a:solidFill>
                <a:latin typeface="Segoe UI" panose="020B0502040204020203" pitchFamily="34" charset="0"/>
              </a:rPr>
              <a:t> inherit from Oscillator and override </a:t>
            </a:r>
            <a:r>
              <a:rPr lang="en-IN" sz="1300" dirty="0" err="1">
                <a:solidFill>
                  <a:srgbClr val="E2E8F0"/>
                </a:solidFill>
                <a:latin typeface="Segoe UI" panose="020B0502040204020203" pitchFamily="34" charset="0"/>
              </a:rPr>
              <a:t>nextSample</a:t>
            </a:r>
            <a:r>
              <a:rPr lang="en-IN" sz="1300" dirty="0">
                <a:solidFill>
                  <a:srgbClr val="E2E8F0"/>
                </a:solidFill>
                <a:latin typeface="Segoe UI" panose="020B0502040204020203" pitchFamily="34" charset="0"/>
              </a:rPr>
              <a:t>() with their specific mathematical models.</a:t>
            </a:r>
          </a:p>
        </p:txBody>
      </p:sp>
    </p:spTree>
    <p:extLst>
      <p:ext uri="{BB962C8B-B14F-4D97-AF65-F5344CB8AC3E}">
        <p14:creationId xmlns:p14="http://schemas.microsoft.com/office/powerpoint/2010/main" val="889458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7C8116-486F-2F64-C8FB-B93CD4B816EA}"/>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EC54A7C-A4B1-D53D-37C7-9688B89CC215}"/>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AUDIO DYNAMICS</a:t>
            </a:r>
          </a:p>
        </p:txBody>
      </p:sp>
      <p:sp>
        <p:nvSpPr>
          <p:cNvPr id="4" name="TextBox 3">
            <a:extLst>
              <a:ext uri="{FF2B5EF4-FFF2-40B4-BE49-F238E27FC236}">
                <a16:creationId xmlns:a16="http://schemas.microsoft.com/office/drawing/2014/main" id="{F0C16111-8606-5C62-74AD-AAF1B7615BEF}"/>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ADSR Envelope &amp; Volume Shaping</a:t>
            </a:r>
          </a:p>
        </p:txBody>
      </p:sp>
      <p:sp>
        <p:nvSpPr>
          <p:cNvPr id="5" name="TextBox 4">
            <a:extLst>
              <a:ext uri="{FF2B5EF4-FFF2-40B4-BE49-F238E27FC236}">
                <a16:creationId xmlns:a16="http://schemas.microsoft.com/office/drawing/2014/main" id="{182483D7-9C17-C962-E7A5-03921FF5858E}"/>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Eliminating Speaker Transients &amp; Simulating Real Instrument Acoustics</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6E287F3E-A67B-9EA2-F4D5-4BC79D68FBAD}"/>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E15DA4F6-75C4-2CB0-9133-B825DED3877D}"/>
              </a:ext>
            </a:extLst>
          </p:cNvPr>
          <p:cNvSpPr/>
          <p:nvPr/>
        </p:nvSpPr>
        <p:spPr>
          <a:xfrm>
            <a:off x="508000" y="1143000"/>
            <a:ext cx="5397500" cy="190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6C4D3A3-2969-35A3-F166-1D9E69A6F2D6}"/>
              </a:ext>
            </a:extLst>
          </p:cNvPr>
          <p:cNvSpPr txBox="1"/>
          <p:nvPr/>
        </p:nvSpPr>
        <p:spPr>
          <a:xfrm>
            <a:off x="698500" y="1295400"/>
            <a:ext cx="5016500" cy="266740"/>
          </a:xfrm>
          <a:prstGeom prst="rect">
            <a:avLst/>
          </a:prstGeom>
          <a:noFill/>
        </p:spPr>
        <p:txBody>
          <a:bodyPr vert="horz" wrap="square" lIns="50800" tIns="25400" rIns="50800" bIns="25400" rtlCol="0">
            <a:spAutoFit/>
          </a:bodyPr>
          <a:lstStyle/>
          <a:p>
            <a:r>
              <a:rPr lang="en-US" sz="1400" b="1" dirty="0">
                <a:solidFill>
                  <a:srgbClr val="38BDF8"/>
                </a:solidFill>
                <a:latin typeface="Segoe UI" panose="020B0502040204020203" pitchFamily="34" charset="0"/>
              </a:rPr>
              <a:t>WHY AN ENVELOPE IS ESSENTIAL</a:t>
            </a:r>
            <a:endParaRPr lang="en-IN" sz="1400" b="1" dirty="0">
              <a:solidFill>
                <a:srgbClr val="38BDF8"/>
              </a:solidFill>
              <a:latin typeface="Segoe UI" panose="020B0502040204020203" pitchFamily="34" charset="0"/>
            </a:endParaRPr>
          </a:p>
        </p:txBody>
      </p:sp>
      <p:sp>
        <p:nvSpPr>
          <p:cNvPr id="9" name="TextBox 8">
            <a:extLst>
              <a:ext uri="{FF2B5EF4-FFF2-40B4-BE49-F238E27FC236}">
                <a16:creationId xmlns:a16="http://schemas.microsoft.com/office/drawing/2014/main" id="{A0741C29-84C9-D759-C716-1C5C3E80EFD4}"/>
              </a:ext>
            </a:extLst>
          </p:cNvPr>
          <p:cNvSpPr txBox="1"/>
          <p:nvPr/>
        </p:nvSpPr>
        <p:spPr>
          <a:xfrm>
            <a:off x="698500" y="1600200"/>
            <a:ext cx="5016500" cy="1051570"/>
          </a:xfrm>
          <a:prstGeom prst="rect">
            <a:avLst/>
          </a:prstGeom>
          <a:noFill/>
        </p:spPr>
        <p:txBody>
          <a:bodyPr vert="horz" wrap="square" lIns="50800" tIns="25400" rIns="50800" bIns="25400" rtlCol="0">
            <a:spAutoFit/>
          </a:bodyPr>
          <a:lstStyle/>
          <a:p>
            <a:r>
              <a:rPr lang="en-US" sz="1300" dirty="0">
                <a:solidFill>
                  <a:srgbClr val="E2E8F0"/>
                </a:solidFill>
                <a:latin typeface="Segoe UI" panose="020B0502040204020203" pitchFamily="34" charset="0"/>
              </a:rPr>
              <a:t>If an audio wave starts or stops abruptly at non-zero amplitudes, it creates a harsh, audible pop or click.
ADSR guarantees smooth rise from silence and smooth fade back to zero.</a:t>
            </a:r>
            <a:endParaRPr lang="en-IN" sz="1300" dirty="0">
              <a:solidFill>
                <a:srgbClr val="E2E8F0"/>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D38A2F93-8BE3-FEB4-E7EE-23C301F8F46A}"/>
              </a:ext>
            </a:extLst>
          </p:cNvPr>
          <p:cNvSpPr/>
          <p:nvPr/>
        </p:nvSpPr>
        <p:spPr>
          <a:xfrm>
            <a:off x="508000" y="3200400"/>
            <a:ext cx="5397500" cy="3276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8E02C371-E02A-49DB-5B25-A54D37401346}"/>
              </a:ext>
            </a:extLst>
          </p:cNvPr>
          <p:cNvSpPr txBox="1"/>
          <p:nvPr/>
        </p:nvSpPr>
        <p:spPr>
          <a:xfrm>
            <a:off x="698500" y="3352800"/>
            <a:ext cx="5016500" cy="266740"/>
          </a:xfrm>
          <a:prstGeom prst="rect">
            <a:avLst/>
          </a:prstGeom>
          <a:noFill/>
        </p:spPr>
        <p:txBody>
          <a:bodyPr vert="horz" wrap="square" lIns="50800" tIns="25400" rIns="50800" bIns="25400" rtlCol="0">
            <a:spAutoFit/>
          </a:bodyPr>
          <a:lstStyle/>
          <a:p>
            <a:r>
              <a:rPr lang="en-IN" sz="1400" b="1" dirty="0">
                <a:solidFill>
                  <a:srgbClr val="C084FC"/>
                </a:solidFill>
                <a:latin typeface="Segoe UI" panose="020B0502040204020203" pitchFamily="34" charset="0"/>
              </a:rPr>
              <a:t>4-STAGE PIECEWISE LINEAR MODULATION</a:t>
            </a:r>
          </a:p>
        </p:txBody>
      </p:sp>
      <p:sp>
        <p:nvSpPr>
          <p:cNvPr id="12" name="TextBox 11">
            <a:extLst>
              <a:ext uri="{FF2B5EF4-FFF2-40B4-BE49-F238E27FC236}">
                <a16:creationId xmlns:a16="http://schemas.microsoft.com/office/drawing/2014/main" id="{04DCC9B8-8227-07B6-21C0-25FFBFCD7F8F}"/>
              </a:ext>
            </a:extLst>
          </p:cNvPr>
          <p:cNvSpPr txBox="1"/>
          <p:nvPr/>
        </p:nvSpPr>
        <p:spPr>
          <a:xfrm>
            <a:off x="698500" y="3708400"/>
            <a:ext cx="5016500" cy="1251625"/>
          </a:xfrm>
          <a:prstGeom prst="rect">
            <a:avLst/>
          </a:prstGeom>
          <a:noFill/>
        </p:spPr>
        <p:txBody>
          <a:bodyPr vert="horz" wrap="square" lIns="50800" tIns="25400" rIns="50800" bIns="25400" rtlCol="0">
            <a:spAutoFit/>
          </a:bodyPr>
          <a:lstStyle/>
          <a:p>
            <a:pPr indent="-171450">
              <a:buChar char="•"/>
            </a:pPr>
            <a:r>
              <a:rPr lang="en-US" sz="1300" dirty="0">
                <a:solidFill>
                  <a:srgbClr val="FFFFFF"/>
                </a:solidFill>
                <a:latin typeface="Segoe UI" panose="020B0502040204020203" pitchFamily="34" charset="0"/>
              </a:rPr>
              <a:t>Attack (A): Ramps from silence to peak 1.0 (gain = t / attack)
Decay (D): Drops from peak to sustain level S (gain = 1 - (1-S)*((t-A)/D))
Sustain (S): Constant volume held for note duration (gain = sustain)
Release (R): Fades smoothly down to silence at note end</a:t>
            </a:r>
            <a:endParaRPr lang="en-IN" sz="1300" dirty="0">
              <a:solidFill>
                <a:srgbClr val="FFFFFF"/>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50041463-FAEE-DEC2-0C4E-BDF8DDDBD16F}"/>
              </a:ext>
            </a:extLst>
          </p:cNvPr>
          <p:cNvSpPr/>
          <p:nvPr/>
        </p:nvSpPr>
        <p:spPr>
          <a:xfrm>
            <a:off x="6286500" y="1143000"/>
            <a:ext cx="5397500" cy="2667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BF5B054B-F0CF-DE75-68E6-9DDFFB067410}"/>
              </a:ext>
            </a:extLst>
          </p:cNvPr>
          <p:cNvSpPr txBox="1"/>
          <p:nvPr/>
        </p:nvSpPr>
        <p:spPr>
          <a:xfrm>
            <a:off x="6477000" y="1295400"/>
            <a:ext cx="50165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ADSR ENVELOPE CURVE</a:t>
            </a:r>
          </a:p>
        </p:txBody>
      </p:sp>
      <p:sp>
        <p:nvSpPr>
          <p:cNvPr id="15" name="Rectangle: Rounded Corners 14">
            <a:extLst>
              <a:ext uri="{FF2B5EF4-FFF2-40B4-BE49-F238E27FC236}">
                <a16:creationId xmlns:a16="http://schemas.microsoft.com/office/drawing/2014/main" id="{AF1046C1-95B7-9E84-9DFC-1507E8D32725}"/>
              </a:ext>
            </a:extLst>
          </p:cNvPr>
          <p:cNvSpPr/>
          <p:nvPr/>
        </p:nvSpPr>
        <p:spPr>
          <a:xfrm>
            <a:off x="6477000" y="1587500"/>
            <a:ext cx="5016500" cy="20320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Connector 15">
            <a:extLst>
              <a:ext uri="{FF2B5EF4-FFF2-40B4-BE49-F238E27FC236}">
                <a16:creationId xmlns:a16="http://schemas.microsoft.com/office/drawing/2014/main" id="{ED878696-C17D-76FE-375E-734A6309D127}"/>
              </a:ext>
            </a:extLst>
          </p:cNvPr>
          <p:cNvCxnSpPr/>
          <p:nvPr/>
        </p:nvCxnSpPr>
        <p:spPr>
          <a:xfrm>
            <a:off x="6731000" y="1968500"/>
            <a:ext cx="4508500" cy="0"/>
          </a:xfrm>
          <a:prstGeom prst="line">
            <a:avLst/>
          </a:prstGeom>
          <a:ln cap="sq">
            <a:solidFill>
              <a:srgbClr val="283750"/>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E448C35-2380-5391-7E7F-81089A8935A3}"/>
              </a:ext>
            </a:extLst>
          </p:cNvPr>
          <p:cNvCxnSpPr/>
          <p:nvPr/>
        </p:nvCxnSpPr>
        <p:spPr>
          <a:xfrm>
            <a:off x="6731000" y="3048000"/>
            <a:ext cx="4508500" cy="0"/>
          </a:xfrm>
          <a:prstGeom prst="line">
            <a:avLst/>
          </a:prstGeom>
          <a:ln w="12700">
            <a:solidFill>
              <a:srgbClr val="32415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E4A7756-C3D2-FC3D-EDA3-2E13388D4AE8}"/>
              </a:ext>
            </a:extLst>
          </p:cNvPr>
          <p:cNvCxnSpPr/>
          <p:nvPr/>
        </p:nvCxnSpPr>
        <p:spPr>
          <a:xfrm flipV="1">
            <a:off x="6794500" y="1968500"/>
            <a:ext cx="762000" cy="10795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15A8165-256E-8F47-7AE2-7312DA7E692D}"/>
              </a:ext>
            </a:extLst>
          </p:cNvPr>
          <p:cNvCxnSpPr/>
          <p:nvPr/>
        </p:nvCxnSpPr>
        <p:spPr>
          <a:xfrm>
            <a:off x="7556500" y="1968500"/>
            <a:ext cx="762000" cy="5080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4D463C9-ECB8-FBA1-4C03-061496AA25EE}"/>
              </a:ext>
            </a:extLst>
          </p:cNvPr>
          <p:cNvCxnSpPr/>
          <p:nvPr/>
        </p:nvCxnSpPr>
        <p:spPr>
          <a:xfrm>
            <a:off x="8318500" y="2476500"/>
            <a:ext cx="1651000" cy="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D09223C-0BF9-96F0-12C2-2CC87A2AEC62}"/>
              </a:ext>
            </a:extLst>
          </p:cNvPr>
          <p:cNvCxnSpPr/>
          <p:nvPr/>
        </p:nvCxnSpPr>
        <p:spPr>
          <a:xfrm>
            <a:off x="9969500" y="2476500"/>
            <a:ext cx="1143000" cy="571500"/>
          </a:xfrm>
          <a:prstGeom prst="line">
            <a:avLst/>
          </a:prstGeom>
          <a:ln w="38100">
            <a:solidFill>
              <a:srgbClr val="38BDF8"/>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51F54D5-1B1E-1011-37B2-116DDE7A9EAC}"/>
              </a:ext>
            </a:extLst>
          </p:cNvPr>
          <p:cNvSpPr txBox="1"/>
          <p:nvPr/>
        </p:nvSpPr>
        <p:spPr>
          <a:xfrm>
            <a:off x="69215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Attack</a:t>
            </a:r>
          </a:p>
        </p:txBody>
      </p:sp>
      <p:sp>
        <p:nvSpPr>
          <p:cNvPr id="23" name="TextBox 22">
            <a:extLst>
              <a:ext uri="{FF2B5EF4-FFF2-40B4-BE49-F238E27FC236}">
                <a16:creationId xmlns:a16="http://schemas.microsoft.com/office/drawing/2014/main" id="{9D9CAD3C-E773-0DEC-47B2-67844BC45FED}"/>
              </a:ext>
            </a:extLst>
          </p:cNvPr>
          <p:cNvSpPr txBox="1"/>
          <p:nvPr/>
        </p:nvSpPr>
        <p:spPr>
          <a:xfrm>
            <a:off x="7747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Decay</a:t>
            </a:r>
          </a:p>
        </p:txBody>
      </p:sp>
      <p:sp>
        <p:nvSpPr>
          <p:cNvPr id="24" name="TextBox 23">
            <a:extLst>
              <a:ext uri="{FF2B5EF4-FFF2-40B4-BE49-F238E27FC236}">
                <a16:creationId xmlns:a16="http://schemas.microsoft.com/office/drawing/2014/main" id="{80A9C289-4475-0D19-2C52-80FD051324E9}"/>
              </a:ext>
            </a:extLst>
          </p:cNvPr>
          <p:cNvSpPr txBox="1"/>
          <p:nvPr/>
        </p:nvSpPr>
        <p:spPr>
          <a:xfrm>
            <a:off x="8890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Sustain</a:t>
            </a:r>
          </a:p>
        </p:txBody>
      </p:sp>
      <p:sp>
        <p:nvSpPr>
          <p:cNvPr id="25" name="TextBox 24">
            <a:extLst>
              <a:ext uri="{FF2B5EF4-FFF2-40B4-BE49-F238E27FC236}">
                <a16:creationId xmlns:a16="http://schemas.microsoft.com/office/drawing/2014/main" id="{A4C3C0E1-CE98-D0A8-40F8-CC74C2243F23}"/>
              </a:ext>
            </a:extLst>
          </p:cNvPr>
          <p:cNvSpPr txBox="1"/>
          <p:nvPr/>
        </p:nvSpPr>
        <p:spPr>
          <a:xfrm>
            <a:off x="10414000" y="3111500"/>
            <a:ext cx="635000" cy="189796"/>
          </a:xfrm>
          <a:prstGeom prst="rect">
            <a:avLst/>
          </a:prstGeom>
          <a:noFill/>
        </p:spPr>
        <p:txBody>
          <a:bodyPr vert="horz" wrap="square" lIns="50800" tIns="25400" rIns="50800" bIns="25400" rtlCol="0">
            <a:spAutoFit/>
          </a:bodyPr>
          <a:lstStyle/>
          <a:p>
            <a:pPr algn="ctr"/>
            <a:r>
              <a:rPr lang="en-IN" sz="900">
                <a:solidFill>
                  <a:srgbClr val="38BDF8"/>
                </a:solidFill>
                <a:latin typeface="Segoe UI" panose="020B0502040204020203" pitchFamily="34" charset="0"/>
              </a:rPr>
              <a:t>Release</a:t>
            </a:r>
          </a:p>
        </p:txBody>
      </p:sp>
    </p:spTree>
    <p:extLst>
      <p:ext uri="{BB962C8B-B14F-4D97-AF65-F5344CB8AC3E}">
        <p14:creationId xmlns:p14="http://schemas.microsoft.com/office/powerpoint/2010/main" val="48334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A15AE4-FBF3-4191-48C5-06C2E0880B33}"/>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3CBA8D0-D283-693F-DFD6-F0B59F6E015C}"/>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LOW-LEVEL FILE I/O</a:t>
            </a:r>
          </a:p>
        </p:txBody>
      </p:sp>
      <p:sp>
        <p:nvSpPr>
          <p:cNvPr id="4" name="TextBox 3">
            <a:extLst>
              <a:ext uri="{FF2B5EF4-FFF2-40B4-BE49-F238E27FC236}">
                <a16:creationId xmlns:a16="http://schemas.microsoft.com/office/drawing/2014/main" id="{31A739A9-CC18-B622-24C1-191274C8BCAB}"/>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US" sz="2000" b="1">
                <a:solidFill>
                  <a:srgbClr val="FFFFFF"/>
                </a:solidFill>
                <a:latin typeface="Segoe UI" panose="020B0502040204020203" pitchFamily="34" charset="0"/>
              </a:rPr>
              <a:t>44-Byte RIFF Header &amp; Binary Serialization</a:t>
            </a:r>
            <a:endParaRPr lang="en-IN" sz="2000" b="1">
              <a:solidFill>
                <a:srgbClr val="FFFFFF"/>
              </a:solidFill>
              <a:latin typeface="Segoe UI" panose="020B0502040204020203" pitchFamily="34" charset="0"/>
            </a:endParaRPr>
          </a:p>
        </p:txBody>
      </p:sp>
      <p:sp>
        <p:nvSpPr>
          <p:cNvPr id="5" name="TextBox 4">
            <a:extLst>
              <a:ext uri="{FF2B5EF4-FFF2-40B4-BE49-F238E27FC236}">
                <a16:creationId xmlns:a16="http://schemas.microsoft.com/office/drawing/2014/main" id="{A1BBBBFA-4119-E5DA-7B57-36E1D3D24CE5}"/>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Raw PCM Byte Quantization &amp; Little-Endian Bit Shifts</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84A5FBD8-E062-61CC-EF4D-9E4BCDCFA9F8}"/>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65DF57E5-4F2E-756C-BC7E-A79F0725C9E6}"/>
              </a:ext>
            </a:extLst>
          </p:cNvPr>
          <p:cNvSpPr/>
          <p:nvPr/>
        </p:nvSpPr>
        <p:spPr>
          <a:xfrm>
            <a:off x="508000" y="1143000"/>
            <a:ext cx="5461000" cy="5334000"/>
          </a:xfrm>
          <a:prstGeom prst="roundRect">
            <a:avLst>
              <a:gd name="adj" fmla="val 5000"/>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8955B80-7126-8D02-1B63-84DF2B550A03}"/>
              </a:ext>
            </a:extLst>
          </p:cNvPr>
          <p:cNvSpPr txBox="1"/>
          <p:nvPr/>
        </p:nvSpPr>
        <p:spPr>
          <a:xfrm>
            <a:off x="825500" y="1320800"/>
            <a:ext cx="4826000" cy="220573"/>
          </a:xfrm>
          <a:prstGeom prst="rect">
            <a:avLst/>
          </a:prstGeom>
          <a:noFill/>
        </p:spPr>
        <p:txBody>
          <a:bodyPr vert="horz" wrap="square" lIns="50800" tIns="25400" rIns="50800" bIns="25400" rtlCol="0">
            <a:spAutoFit/>
          </a:bodyPr>
          <a:lstStyle/>
          <a:p>
            <a:r>
              <a:rPr lang="en-US" sz="1100" b="1">
                <a:solidFill>
                  <a:srgbClr val="38BDF8"/>
                </a:solidFill>
                <a:latin typeface="Segoe UI" panose="020B0502040204020203" pitchFamily="34" charset="0"/>
              </a:rPr>
              <a:t>RIFF / WAVE 44-BYTE HEADER LAYOUT</a:t>
            </a:r>
            <a:endParaRPr lang="en-IN" sz="1100" b="1">
              <a:solidFill>
                <a:srgbClr val="38BDF8"/>
              </a:solidFill>
              <a:latin typeface="Segoe UI" panose="020B0502040204020203" pitchFamily="34" charset="0"/>
            </a:endParaRPr>
          </a:p>
        </p:txBody>
      </p:sp>
      <p:graphicFrame>
        <p:nvGraphicFramePr>
          <p:cNvPr id="9" name="Table 8">
            <a:extLst>
              <a:ext uri="{FF2B5EF4-FFF2-40B4-BE49-F238E27FC236}">
                <a16:creationId xmlns:a16="http://schemas.microsoft.com/office/drawing/2014/main" id="{C549F93C-184E-0E75-92A3-5C42804B2EE0}"/>
              </a:ext>
            </a:extLst>
          </p:cNvPr>
          <p:cNvGraphicFramePr>
            <a:graphicFrameLocks noGrp="1"/>
          </p:cNvGraphicFramePr>
          <p:nvPr>
            <p:extLst>
              <p:ext uri="{D42A27DB-BD31-4B8C-83A1-F6EECF244321}">
                <p14:modId xmlns:p14="http://schemas.microsoft.com/office/powerpoint/2010/main" val="4016584896"/>
              </p:ext>
            </p:extLst>
          </p:nvPr>
        </p:nvGraphicFramePr>
        <p:xfrm>
          <a:off x="825500" y="1651000"/>
          <a:ext cx="4826000" cy="4317995"/>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2269948268"/>
                    </a:ext>
                  </a:extLst>
                </a:gridCol>
                <a:gridCol w="1905000">
                  <a:extLst>
                    <a:ext uri="{9D8B030D-6E8A-4147-A177-3AD203B41FA5}">
                      <a16:colId xmlns:a16="http://schemas.microsoft.com/office/drawing/2014/main" val="3307486573"/>
                    </a:ext>
                  </a:extLst>
                </a:gridCol>
                <a:gridCol w="1968500">
                  <a:extLst>
                    <a:ext uri="{9D8B030D-6E8A-4147-A177-3AD203B41FA5}">
                      <a16:colId xmlns:a16="http://schemas.microsoft.com/office/drawing/2014/main" val="2503340706"/>
                    </a:ext>
                  </a:extLst>
                </a:gridCol>
              </a:tblGrid>
              <a:tr h="392545">
                <a:tc>
                  <a:txBody>
                    <a:bodyPr/>
                    <a:lstStyle/>
                    <a:p>
                      <a:r>
                        <a:rPr lang="en-IN" sz="900" b="1">
                          <a:solidFill>
                            <a:srgbClr val="38BDF8"/>
                          </a:solidFill>
                          <a:latin typeface="Segoe UI" panose="020B0502040204020203" pitchFamily="34" charset="0"/>
                        </a:rPr>
                        <a:t>Byte Range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tc>
                  <a:txBody>
                    <a:bodyPr/>
                    <a:lstStyle/>
                    <a:p>
                      <a:r>
                        <a:rPr lang="en-IN" sz="900" b="1">
                          <a:solidFill>
                            <a:srgbClr val="38BDF8"/>
                          </a:solidFill>
                          <a:latin typeface="Segoe UI" panose="020B0502040204020203" pitchFamily="34" charset="0"/>
                        </a:rPr>
                        <a:t>Header Field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tc>
                  <a:txBody>
                    <a:bodyPr/>
                    <a:lstStyle/>
                    <a:p>
                      <a:r>
                        <a:rPr lang="en-IN" sz="900" b="1">
                          <a:solidFill>
                            <a:srgbClr val="38BDF8"/>
                          </a:solidFill>
                          <a:latin typeface="Segoe UI" panose="020B0502040204020203" pitchFamily="34" charset="0"/>
                        </a:rPr>
                        <a:t>Code Value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chemeClr val="lt1">
                          <a:alpha val="0"/>
                        </a:schemeClr>
                      </a:solidFill>
                      <a:prstDash val="solid"/>
                      <a:round/>
                      <a:headEnd type="none" w="med" len="med"/>
                      <a:tailEnd type="none" w="med" len="med"/>
                    </a:lnT>
                    <a:lnB w="0" cap="flat" cmpd="sng" algn="ctr">
                      <a:solidFill>
                        <a:srgbClr val="38BDF8">
                          <a:alpha val="0"/>
                        </a:srgbClr>
                      </a:solidFill>
                      <a:prstDash val="solid"/>
                      <a:round/>
                      <a:headEnd type="none" w="med" len="med"/>
                      <a:tailEnd type="none" w="med" len="med"/>
                    </a:lnB>
                    <a:solidFill>
                      <a:srgbClr val="14233C"/>
                    </a:solidFill>
                  </a:tcPr>
                </a:tc>
                <a:extLst>
                  <a:ext uri="{0D108BD9-81ED-4DB2-BD59-A6C34878D82A}">
                    <a16:rowId xmlns:a16="http://schemas.microsoft.com/office/drawing/2014/main" val="1747886266"/>
                  </a:ext>
                </a:extLst>
              </a:tr>
              <a:tr h="392545">
                <a:tc>
                  <a:txBody>
                    <a:bodyPr/>
                    <a:lstStyle/>
                    <a:p>
                      <a:r>
                        <a:rPr lang="en-IN" sz="800">
                          <a:solidFill>
                            <a:srgbClr val="E2E8F0"/>
                          </a:solidFill>
                          <a:latin typeface="Segoe UI" panose="020B0502040204020203" pitchFamily="34" charset="0"/>
                        </a:rPr>
                        <a:t>00 - 03</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ChunkID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"RIFF"</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38BDF8">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3921239735"/>
                  </a:ext>
                </a:extLst>
              </a:tr>
              <a:tr h="392545">
                <a:tc>
                  <a:txBody>
                    <a:bodyPr/>
                    <a:lstStyle/>
                    <a:p>
                      <a:r>
                        <a:rPr lang="en-IN" sz="800">
                          <a:solidFill>
                            <a:srgbClr val="E2E8F0"/>
                          </a:solidFill>
                          <a:latin typeface="Segoe UI" panose="020B0502040204020203" pitchFamily="34" charset="0"/>
                        </a:rPr>
                        <a:t>04 - 07</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ChunkSize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36 + dataSize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3448295878"/>
                  </a:ext>
                </a:extLst>
              </a:tr>
              <a:tr h="392545">
                <a:tc>
                  <a:txBody>
                    <a:bodyPr/>
                    <a:lstStyle/>
                    <a:p>
                      <a:r>
                        <a:rPr lang="en-IN" sz="800">
                          <a:solidFill>
                            <a:srgbClr val="E2E8F0"/>
                          </a:solidFill>
                          <a:latin typeface="Segoe UI" panose="020B0502040204020203" pitchFamily="34" charset="0"/>
                        </a:rPr>
                        <a:t>08 - 11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Format</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"WAVE"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2404341357"/>
                  </a:ext>
                </a:extLst>
              </a:tr>
              <a:tr h="392545">
                <a:tc>
                  <a:txBody>
                    <a:bodyPr/>
                    <a:lstStyle/>
                    <a:p>
                      <a:r>
                        <a:rPr lang="en-IN" sz="800">
                          <a:solidFill>
                            <a:srgbClr val="E2E8F0"/>
                          </a:solidFill>
                          <a:latin typeface="Segoe UI" panose="020B0502040204020203" pitchFamily="34" charset="0"/>
                        </a:rPr>
                        <a:t>12 - 15</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Subchunk1ID</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"fmt "</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3972539734"/>
                  </a:ext>
                </a:extLst>
              </a:tr>
              <a:tr h="392545">
                <a:tc>
                  <a:txBody>
                    <a:bodyPr/>
                    <a:lstStyle/>
                    <a:p>
                      <a:r>
                        <a:rPr lang="en-IN" sz="800">
                          <a:solidFill>
                            <a:srgbClr val="E2E8F0"/>
                          </a:solidFill>
                          <a:latin typeface="Segoe UI" panose="020B0502040204020203" pitchFamily="34" charset="0"/>
                        </a:rPr>
                        <a:t>16 - 19</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Subchunk1Size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16 (PCM)</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3700398401"/>
                  </a:ext>
                </a:extLst>
              </a:tr>
              <a:tr h="392545">
                <a:tc>
                  <a:txBody>
                    <a:bodyPr/>
                    <a:lstStyle/>
                    <a:p>
                      <a:r>
                        <a:rPr lang="en-IN" sz="800">
                          <a:solidFill>
                            <a:srgbClr val="E2E8F0"/>
                          </a:solidFill>
                          <a:latin typeface="Segoe UI" panose="020B0502040204020203" pitchFamily="34" charset="0"/>
                        </a:rPr>
                        <a:t>20 - 21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AudioFormat</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1 (Linear PCM)</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965419764"/>
                  </a:ext>
                </a:extLst>
              </a:tr>
              <a:tr h="392545">
                <a:tc>
                  <a:txBody>
                    <a:bodyPr/>
                    <a:lstStyle/>
                    <a:p>
                      <a:r>
                        <a:rPr lang="en-IN" sz="800">
                          <a:solidFill>
                            <a:srgbClr val="E2E8F0"/>
                          </a:solidFill>
                          <a:latin typeface="Segoe UI" panose="020B0502040204020203" pitchFamily="34" charset="0"/>
                        </a:rPr>
                        <a:t>22 - 23</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NumChannels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1 (Mono)</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1785291528"/>
                  </a:ext>
                </a:extLst>
              </a:tr>
              <a:tr h="392545">
                <a:tc>
                  <a:txBody>
                    <a:bodyPr/>
                    <a:lstStyle/>
                    <a:p>
                      <a:r>
                        <a:rPr lang="en-IN" sz="800">
                          <a:solidFill>
                            <a:srgbClr val="E2E8F0"/>
                          </a:solidFill>
                          <a:latin typeface="Segoe UI" panose="020B0502040204020203" pitchFamily="34" charset="0"/>
                        </a:rPr>
                        <a:t>24 - 27</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SampleRate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44,100 Hz</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41E2D"/>
                    </a:solidFill>
                  </a:tcPr>
                </a:tc>
                <a:extLst>
                  <a:ext uri="{0D108BD9-81ED-4DB2-BD59-A6C34878D82A}">
                    <a16:rowId xmlns:a16="http://schemas.microsoft.com/office/drawing/2014/main" val="4252804241"/>
                  </a:ext>
                </a:extLst>
              </a:tr>
              <a:tr h="392545">
                <a:tc>
                  <a:txBody>
                    <a:bodyPr/>
                    <a:lstStyle/>
                    <a:p>
                      <a:r>
                        <a:rPr lang="en-IN" sz="800">
                          <a:solidFill>
                            <a:srgbClr val="E2E8F0"/>
                          </a:solidFill>
                          <a:latin typeface="Segoe UI" panose="020B0502040204020203" pitchFamily="34" charset="0"/>
                        </a:rPr>
                        <a:t>28 - 31</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ByteRate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tc>
                  <a:txBody>
                    <a:bodyPr/>
                    <a:lstStyle/>
                    <a:p>
                      <a:r>
                        <a:rPr lang="en-IN" sz="800">
                          <a:solidFill>
                            <a:srgbClr val="E2E8F0"/>
                          </a:solidFill>
                          <a:latin typeface="Segoe UI" panose="020B0502040204020203" pitchFamily="34" charset="0"/>
                        </a:rPr>
                        <a:t>88,200 B/s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rgbClr val="2D374B">
                          <a:alpha val="0"/>
                        </a:srgbClr>
                      </a:solidFill>
                      <a:prstDash val="solid"/>
                      <a:round/>
                      <a:headEnd type="none" w="med" len="med"/>
                      <a:tailEnd type="none" w="med" len="med"/>
                    </a:lnB>
                    <a:solidFill>
                      <a:srgbClr val="192332"/>
                    </a:solidFill>
                  </a:tcPr>
                </a:tc>
                <a:extLst>
                  <a:ext uri="{0D108BD9-81ED-4DB2-BD59-A6C34878D82A}">
                    <a16:rowId xmlns:a16="http://schemas.microsoft.com/office/drawing/2014/main" val="4200950478"/>
                  </a:ext>
                </a:extLst>
              </a:tr>
              <a:tr h="392545">
                <a:tc>
                  <a:txBody>
                    <a:bodyPr/>
                    <a:lstStyle/>
                    <a:p>
                      <a:r>
                        <a:rPr lang="en-IN" sz="800">
                          <a:solidFill>
                            <a:srgbClr val="E2E8F0"/>
                          </a:solidFill>
                          <a:latin typeface="Segoe UI" panose="020B0502040204020203" pitchFamily="34" charset="0"/>
                        </a:rPr>
                        <a:t>34 - 35</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BitsPerSample</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tc>
                  <a:txBody>
                    <a:bodyPr/>
                    <a:lstStyle/>
                    <a:p>
                      <a:r>
                        <a:rPr lang="en-IN" sz="800">
                          <a:solidFill>
                            <a:srgbClr val="E2E8F0"/>
                          </a:solidFill>
                          <a:latin typeface="Segoe UI" panose="020B0502040204020203" pitchFamily="34" charset="0"/>
                        </a:rPr>
                        <a:t>16 Bits</a:t>
                      </a:r>
                    </a:p>
                  </a:txBody>
                  <a:tcPr marL="50800" marR="50800" marT="12700" marB="12700">
                    <a:lnL w="0" cap="flat" cmpd="sng" algn="ctr">
                      <a:solidFill>
                        <a:schemeClr val="lt1">
                          <a:alpha val="0"/>
                        </a:schemeClr>
                      </a:solidFill>
                      <a:prstDash val="solid"/>
                      <a:round/>
                      <a:headEnd type="none" w="med" len="med"/>
                      <a:tailEnd type="none" w="med" len="med"/>
                    </a:lnL>
                    <a:lnR w="0" cap="flat" cmpd="sng" algn="ctr">
                      <a:solidFill>
                        <a:schemeClr val="lt1">
                          <a:alpha val="0"/>
                        </a:schemeClr>
                      </a:solidFill>
                      <a:prstDash val="solid"/>
                      <a:round/>
                      <a:headEnd type="none" w="med" len="med"/>
                      <a:tailEnd type="none" w="med" len="med"/>
                    </a:lnR>
                    <a:lnT w="0" cap="flat" cmpd="sng" algn="ctr">
                      <a:solidFill>
                        <a:srgbClr val="2D374B">
                          <a:alpha val="0"/>
                        </a:srgbClr>
                      </a:solidFill>
                      <a:prstDash val="solid"/>
                      <a:round/>
                      <a:headEnd type="none" w="med" len="med"/>
                      <a:tailEnd type="none" w="med" len="med"/>
                    </a:lnT>
                    <a:lnB w="0" cap="flat" cmpd="sng" algn="ctr">
                      <a:solidFill>
                        <a:schemeClr val="lt1">
                          <a:alpha val="0"/>
                        </a:schemeClr>
                      </a:solidFill>
                      <a:prstDash val="solid"/>
                      <a:round/>
                      <a:headEnd type="none" w="med" len="med"/>
                      <a:tailEnd type="none" w="med" len="med"/>
                    </a:lnB>
                    <a:solidFill>
                      <a:srgbClr val="141E2D"/>
                    </a:solidFill>
                  </a:tcPr>
                </a:tc>
                <a:extLst>
                  <a:ext uri="{0D108BD9-81ED-4DB2-BD59-A6C34878D82A}">
                    <a16:rowId xmlns:a16="http://schemas.microsoft.com/office/drawing/2014/main" val="2646262991"/>
                  </a:ext>
                </a:extLst>
              </a:tr>
            </a:tbl>
          </a:graphicData>
        </a:graphic>
      </p:graphicFrame>
      <p:sp>
        <p:nvSpPr>
          <p:cNvPr id="10" name="Rectangle: Rounded Corners 9">
            <a:extLst>
              <a:ext uri="{FF2B5EF4-FFF2-40B4-BE49-F238E27FC236}">
                <a16:creationId xmlns:a16="http://schemas.microsoft.com/office/drawing/2014/main" id="{17EF2AF0-22CC-6D9A-24E4-DCA9A6922B48}"/>
              </a:ext>
            </a:extLst>
          </p:cNvPr>
          <p:cNvSpPr/>
          <p:nvPr/>
        </p:nvSpPr>
        <p:spPr>
          <a:xfrm>
            <a:off x="6286500" y="1143000"/>
            <a:ext cx="5397500" cy="2540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9EF37057-7C78-BF12-697E-423C7A3A72DB}"/>
              </a:ext>
            </a:extLst>
          </p:cNvPr>
          <p:cNvSpPr txBox="1"/>
          <p:nvPr/>
        </p:nvSpPr>
        <p:spPr>
          <a:xfrm>
            <a:off x="6477000" y="1295400"/>
            <a:ext cx="50165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16-BIT QUANTIZATION (toInt16)</a:t>
            </a:r>
          </a:p>
        </p:txBody>
      </p:sp>
      <p:sp>
        <p:nvSpPr>
          <p:cNvPr id="12" name="TextBox 11">
            <a:extLst>
              <a:ext uri="{FF2B5EF4-FFF2-40B4-BE49-F238E27FC236}">
                <a16:creationId xmlns:a16="http://schemas.microsoft.com/office/drawing/2014/main" id="{7CC896C0-A097-00BD-E83D-A43E1EAD9880}"/>
              </a:ext>
            </a:extLst>
          </p:cNvPr>
          <p:cNvSpPr txBox="1"/>
          <p:nvPr/>
        </p:nvSpPr>
        <p:spPr>
          <a:xfrm>
            <a:off x="6477000" y="1600200"/>
            <a:ext cx="5016500" cy="420628"/>
          </a:xfrm>
          <a:prstGeom prst="rect">
            <a:avLst/>
          </a:prstGeom>
          <a:noFill/>
        </p:spPr>
        <p:txBody>
          <a:bodyPr vert="horz" wrap="square" lIns="50800" tIns="25400" rIns="50800" bIns="25400" rtlCol="0">
            <a:spAutoFit/>
          </a:bodyPr>
          <a:lstStyle/>
          <a:p>
            <a:r>
              <a:rPr lang="en-US" sz="1200" dirty="0">
                <a:solidFill>
                  <a:srgbClr val="E2E8F0"/>
                </a:solidFill>
                <a:latin typeface="Segoe UI" panose="020B0502040204020203" pitchFamily="34" charset="0"/>
              </a:rPr>
              <a:t>Converts continuous double [-1.0, 1.0] to signed 16-bit integer [-32768, 32767]:</a:t>
            </a:r>
            <a:endParaRPr lang="en-IN" sz="1200" dirty="0">
              <a:solidFill>
                <a:srgbClr val="E2E8F0"/>
              </a:solidFill>
              <a:latin typeface="Segoe UI" panose="020B0502040204020203" pitchFamily="34" charset="0"/>
            </a:endParaRPr>
          </a:p>
        </p:txBody>
      </p:sp>
      <p:sp>
        <p:nvSpPr>
          <p:cNvPr id="13" name="Rectangle: Rounded Corners 12">
            <a:extLst>
              <a:ext uri="{FF2B5EF4-FFF2-40B4-BE49-F238E27FC236}">
                <a16:creationId xmlns:a16="http://schemas.microsoft.com/office/drawing/2014/main" id="{B98FCF02-5B0D-1181-1E85-258313B066F5}"/>
              </a:ext>
            </a:extLst>
          </p:cNvPr>
          <p:cNvSpPr/>
          <p:nvPr/>
        </p:nvSpPr>
        <p:spPr>
          <a:xfrm>
            <a:off x="6477000" y="1981200"/>
            <a:ext cx="5016500" cy="8255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DBFFD2F-4159-35D2-1B6D-4BCBA7127DDC}"/>
              </a:ext>
            </a:extLst>
          </p:cNvPr>
          <p:cNvSpPr txBox="1"/>
          <p:nvPr/>
        </p:nvSpPr>
        <p:spPr>
          <a:xfrm>
            <a:off x="6540500" y="2032000"/>
            <a:ext cx="4889500" cy="605294"/>
          </a:xfrm>
          <a:prstGeom prst="rect">
            <a:avLst/>
          </a:prstGeom>
          <a:noFill/>
        </p:spPr>
        <p:txBody>
          <a:bodyPr vert="horz" wrap="square" lIns="50800" tIns="25400" rIns="50800" bIns="25400" rtlCol="0">
            <a:spAutoFit/>
          </a:bodyPr>
          <a:lstStyle/>
          <a:p>
            <a:r>
              <a:rPr lang="en-IN" sz="900">
                <a:solidFill>
                  <a:srgbClr val="34D399"/>
                </a:solidFill>
                <a:latin typeface="Consolas" panose="020B0609020204030204" pitchFamily="49" charset="0"/>
              </a:rPr>
              <a:t>int16_t toInt16(double sample) {
  sample = std::clamp(sample, -1.0, 1.0); // Anti-clipping
  return static_cast&lt;int16_t&gt;(std::lround(sample * 32767.0));
}</a:t>
            </a:r>
          </a:p>
        </p:txBody>
      </p:sp>
      <p:sp>
        <p:nvSpPr>
          <p:cNvPr id="15" name="TextBox 14">
            <a:extLst>
              <a:ext uri="{FF2B5EF4-FFF2-40B4-BE49-F238E27FC236}">
                <a16:creationId xmlns:a16="http://schemas.microsoft.com/office/drawing/2014/main" id="{B5E553CD-1A1B-CD4F-1180-EF56DAE10777}"/>
              </a:ext>
            </a:extLst>
          </p:cNvPr>
          <p:cNvSpPr txBox="1"/>
          <p:nvPr/>
        </p:nvSpPr>
        <p:spPr>
          <a:xfrm>
            <a:off x="6477000" y="2895600"/>
            <a:ext cx="5016500" cy="189796"/>
          </a:xfrm>
          <a:prstGeom prst="rect">
            <a:avLst/>
          </a:prstGeom>
          <a:noFill/>
        </p:spPr>
        <p:txBody>
          <a:bodyPr vert="horz" wrap="square" lIns="50800" tIns="25400" rIns="50800" bIns="25400" rtlCol="0">
            <a:spAutoFit/>
          </a:bodyPr>
          <a:lstStyle/>
          <a:p>
            <a:r>
              <a:rPr lang="en-US" sz="900">
                <a:solidFill>
                  <a:srgbClr val="94A3B8"/>
                </a:solidFill>
                <a:latin typeface="Segoe UI" panose="020B0502040204020203" pitchFamily="34" charset="0"/>
              </a:rPr>
              <a:t>Guarantees zero integer overflow beyond int16_t bounds.</a:t>
            </a:r>
            <a:endParaRPr lang="en-IN" sz="900">
              <a:solidFill>
                <a:srgbClr val="94A3B8"/>
              </a:solidFill>
              <a:latin typeface="Segoe UI" panose="020B0502040204020203" pitchFamily="34" charset="0"/>
            </a:endParaRPr>
          </a:p>
        </p:txBody>
      </p:sp>
      <p:sp>
        <p:nvSpPr>
          <p:cNvPr id="16" name="Rectangle: Rounded Corners 15">
            <a:extLst>
              <a:ext uri="{FF2B5EF4-FFF2-40B4-BE49-F238E27FC236}">
                <a16:creationId xmlns:a16="http://schemas.microsoft.com/office/drawing/2014/main" id="{AD3F37AA-04C5-A737-C939-9B97FF1A36A2}"/>
              </a:ext>
            </a:extLst>
          </p:cNvPr>
          <p:cNvSpPr/>
          <p:nvPr/>
        </p:nvSpPr>
        <p:spPr>
          <a:xfrm>
            <a:off x="6286500" y="3835400"/>
            <a:ext cx="5397500" cy="26416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D9A54F5-C971-E62D-C5ED-416596F4411D}"/>
              </a:ext>
            </a:extLst>
          </p:cNvPr>
          <p:cNvSpPr txBox="1"/>
          <p:nvPr/>
        </p:nvSpPr>
        <p:spPr>
          <a:xfrm>
            <a:off x="6477000" y="3987800"/>
            <a:ext cx="5016500" cy="266740"/>
          </a:xfrm>
          <a:prstGeom prst="rect">
            <a:avLst/>
          </a:prstGeom>
          <a:noFill/>
        </p:spPr>
        <p:txBody>
          <a:bodyPr vert="horz" wrap="square" lIns="50800" tIns="25400" rIns="50800" bIns="25400" rtlCol="0">
            <a:spAutoFit/>
          </a:bodyPr>
          <a:lstStyle/>
          <a:p>
            <a:r>
              <a:rPr lang="en-IN" sz="1400" b="1" dirty="0">
                <a:solidFill>
                  <a:srgbClr val="FBBF24"/>
                </a:solidFill>
                <a:latin typeface="Segoe UI" panose="020B0502040204020203" pitchFamily="34" charset="0"/>
              </a:rPr>
              <a:t>LITTLE-ENDIAN BYTE PACKING</a:t>
            </a:r>
          </a:p>
        </p:txBody>
      </p:sp>
      <p:sp>
        <p:nvSpPr>
          <p:cNvPr id="18" name="TextBox 17">
            <a:extLst>
              <a:ext uri="{FF2B5EF4-FFF2-40B4-BE49-F238E27FC236}">
                <a16:creationId xmlns:a16="http://schemas.microsoft.com/office/drawing/2014/main" id="{2BB9EB5F-43F7-D259-F6B4-F48B465484AD}"/>
              </a:ext>
            </a:extLst>
          </p:cNvPr>
          <p:cNvSpPr txBox="1"/>
          <p:nvPr/>
        </p:nvSpPr>
        <p:spPr>
          <a:xfrm>
            <a:off x="6477000" y="4292600"/>
            <a:ext cx="5016500" cy="1251625"/>
          </a:xfrm>
          <a:prstGeom prst="rect">
            <a:avLst/>
          </a:prstGeom>
          <a:noFill/>
        </p:spPr>
        <p:txBody>
          <a:bodyPr vert="horz" wrap="square" lIns="50800" tIns="25400" rIns="50800" bIns="25400" rtlCol="0">
            <a:spAutoFit/>
          </a:bodyPr>
          <a:lstStyle/>
          <a:p>
            <a:pPr indent="-171450">
              <a:buChar char="•"/>
            </a:pPr>
            <a:r>
              <a:rPr lang="en-US" sz="1300" dirty="0">
                <a:solidFill>
                  <a:srgbClr val="E2E8F0"/>
                </a:solidFill>
                <a:latin typeface="Segoe UI" panose="020B0502040204020203" pitchFamily="34" charset="0"/>
              </a:rPr>
              <a:t>The WAV specification strictly requires Little-Endian byte order (Least Significant Byte first).
In writeU16 and writeU32, we explicitly extract each byte using bitwise right-shifts (&gt;&gt; 8, &gt;&gt; 16) and &amp; 0xFF masks.
Cross-Platform: Guarantees 100% binary format compliance on both x86 and ARM CPU architectures.</a:t>
            </a:r>
            <a:endParaRPr lang="en-IN" sz="1300" dirty="0">
              <a:solidFill>
                <a:srgbClr val="E2E8F0"/>
              </a:solidFill>
              <a:latin typeface="Segoe UI" panose="020B0502040204020203" pitchFamily="34" charset="0"/>
            </a:endParaRPr>
          </a:p>
        </p:txBody>
      </p:sp>
    </p:spTree>
    <p:extLst>
      <p:ext uri="{BB962C8B-B14F-4D97-AF65-F5344CB8AC3E}">
        <p14:creationId xmlns:p14="http://schemas.microsoft.com/office/powerpoint/2010/main" val="198083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9FB03D-6A54-649B-372B-B8F1321A524D}"/>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763FC259-ABE6-355E-FDFD-9E89A1720A6E}"/>
              </a:ext>
            </a:extLst>
          </p:cNvPr>
          <p:cNvSpPr txBox="1"/>
          <p:nvPr/>
        </p:nvSpPr>
        <p:spPr>
          <a:xfrm>
            <a:off x="508000" y="228600"/>
            <a:ext cx="11176000" cy="205184"/>
          </a:xfrm>
          <a:prstGeom prst="rect">
            <a:avLst/>
          </a:prstGeom>
          <a:noFill/>
        </p:spPr>
        <p:txBody>
          <a:bodyPr vert="horz" wrap="square" lIns="50800" tIns="25400" rIns="50800" bIns="25400" rtlCol="0">
            <a:spAutoFit/>
          </a:bodyPr>
          <a:lstStyle/>
          <a:p>
            <a:r>
              <a:rPr lang="en-IN" sz="1000" b="1">
                <a:solidFill>
                  <a:srgbClr val="38BDF8"/>
                </a:solidFill>
                <a:latin typeface="Segoe UI" panose="020B0502040204020203" pitchFamily="34" charset="0"/>
              </a:rPr>
              <a:t>USER INTERFACE &amp; EVALUATION</a:t>
            </a:r>
          </a:p>
        </p:txBody>
      </p:sp>
      <p:sp>
        <p:nvSpPr>
          <p:cNvPr id="4" name="TextBox 3">
            <a:extLst>
              <a:ext uri="{FF2B5EF4-FFF2-40B4-BE49-F238E27FC236}">
                <a16:creationId xmlns:a16="http://schemas.microsoft.com/office/drawing/2014/main" id="{4CFAEA35-15B6-6187-39F2-0B950C204296}"/>
              </a:ext>
            </a:extLst>
          </p:cNvPr>
          <p:cNvSpPr txBox="1"/>
          <p:nvPr/>
        </p:nvSpPr>
        <p:spPr>
          <a:xfrm>
            <a:off x="508000" y="431800"/>
            <a:ext cx="11176000" cy="359073"/>
          </a:xfrm>
          <a:prstGeom prst="rect">
            <a:avLst/>
          </a:prstGeom>
          <a:noFill/>
        </p:spPr>
        <p:txBody>
          <a:bodyPr vert="horz" wrap="square" lIns="50800" tIns="25400" rIns="50800" bIns="25400" rtlCol="0">
            <a:spAutoFit/>
          </a:bodyPr>
          <a:lstStyle/>
          <a:p>
            <a:r>
              <a:rPr lang="en-IN" sz="2000" b="1">
                <a:solidFill>
                  <a:srgbClr val="FFFFFF"/>
                </a:solidFill>
                <a:latin typeface="Segoe UI" panose="020B0502040204020203" pitchFamily="34" charset="0"/>
              </a:rPr>
              <a:t>CLI vs. Interactive TUI &amp; Live Verification</a:t>
            </a:r>
          </a:p>
        </p:txBody>
      </p:sp>
      <p:sp>
        <p:nvSpPr>
          <p:cNvPr id="5" name="TextBox 4">
            <a:extLst>
              <a:ext uri="{FF2B5EF4-FFF2-40B4-BE49-F238E27FC236}">
                <a16:creationId xmlns:a16="http://schemas.microsoft.com/office/drawing/2014/main" id="{832C6389-FD3A-EBCE-A16E-D3D5150ED744}"/>
              </a:ext>
            </a:extLst>
          </p:cNvPr>
          <p:cNvSpPr txBox="1"/>
          <p:nvPr/>
        </p:nvSpPr>
        <p:spPr>
          <a:xfrm>
            <a:off x="508000" y="736600"/>
            <a:ext cx="11176000" cy="220573"/>
          </a:xfrm>
          <a:prstGeom prst="rect">
            <a:avLst/>
          </a:prstGeom>
          <a:noFill/>
        </p:spPr>
        <p:txBody>
          <a:bodyPr vert="horz" wrap="square" lIns="50800" tIns="25400" rIns="50800" bIns="25400" rtlCol="0">
            <a:spAutoFit/>
          </a:bodyPr>
          <a:lstStyle/>
          <a:p>
            <a:r>
              <a:rPr lang="en-US" sz="1100">
                <a:solidFill>
                  <a:srgbClr val="94A3B8"/>
                </a:solidFill>
                <a:latin typeface="Segoe UI" panose="020B0502040204020203" pitchFamily="34" charset="0"/>
              </a:rPr>
              <a:t>Automated Batch Scripting and Real-Time Terminal GUI</a:t>
            </a:r>
            <a:endParaRPr lang="en-IN" sz="1100">
              <a:solidFill>
                <a:srgbClr val="94A3B8"/>
              </a:solidFill>
              <a:latin typeface="Segoe UI" panose="020B0502040204020203" pitchFamily="34" charset="0"/>
            </a:endParaRPr>
          </a:p>
        </p:txBody>
      </p:sp>
      <p:cxnSp>
        <p:nvCxnSpPr>
          <p:cNvPr id="6" name="Straight Connector 5">
            <a:extLst>
              <a:ext uri="{FF2B5EF4-FFF2-40B4-BE49-F238E27FC236}">
                <a16:creationId xmlns:a16="http://schemas.microsoft.com/office/drawing/2014/main" id="{B1DC519D-6B69-21E7-2BEC-07CA9C8AAE2C}"/>
              </a:ext>
            </a:extLst>
          </p:cNvPr>
          <p:cNvCxnSpPr/>
          <p:nvPr/>
        </p:nvCxnSpPr>
        <p:spPr>
          <a:xfrm>
            <a:off x="508000" y="990600"/>
            <a:ext cx="11176000" cy="0"/>
          </a:xfrm>
          <a:prstGeom prst="line">
            <a:avLst/>
          </a:prstGeom>
          <a:ln w="12700">
            <a:solidFill>
              <a:srgbClr val="334155"/>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684BE736-04C4-2152-E37A-6CC563611677}"/>
              </a:ext>
            </a:extLst>
          </p:cNvPr>
          <p:cNvSpPr/>
          <p:nvPr/>
        </p:nvSpPr>
        <p:spPr>
          <a:xfrm>
            <a:off x="508000" y="1143000"/>
            <a:ext cx="5397500" cy="317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06FAFA5-1369-4F75-4F8F-FBDF996BA637}"/>
              </a:ext>
            </a:extLst>
          </p:cNvPr>
          <p:cNvSpPr txBox="1"/>
          <p:nvPr/>
        </p:nvSpPr>
        <p:spPr>
          <a:xfrm>
            <a:off x="698500" y="1295400"/>
            <a:ext cx="5016500" cy="266740"/>
          </a:xfrm>
          <a:prstGeom prst="rect">
            <a:avLst/>
          </a:prstGeom>
          <a:noFill/>
        </p:spPr>
        <p:txBody>
          <a:bodyPr vert="horz" wrap="square" lIns="50800" tIns="25400" rIns="50800" bIns="25400" rtlCol="0">
            <a:spAutoFit/>
          </a:bodyPr>
          <a:lstStyle/>
          <a:p>
            <a:r>
              <a:rPr lang="en-IN" sz="1400" b="1" dirty="0">
                <a:solidFill>
                  <a:srgbClr val="38BDF8"/>
                </a:solidFill>
                <a:latin typeface="Segoe UI" panose="020B0502040204020203" pitchFamily="34" charset="0"/>
              </a:rPr>
              <a:t>CLI FRONTEND: Scriptable (synth)</a:t>
            </a:r>
          </a:p>
        </p:txBody>
      </p:sp>
      <p:sp>
        <p:nvSpPr>
          <p:cNvPr id="9" name="Rectangle: Rounded Corners 8">
            <a:extLst>
              <a:ext uri="{FF2B5EF4-FFF2-40B4-BE49-F238E27FC236}">
                <a16:creationId xmlns:a16="http://schemas.microsoft.com/office/drawing/2014/main" id="{CE276A80-9169-D3C1-3815-46BC05B7E18E}"/>
              </a:ext>
            </a:extLst>
          </p:cNvPr>
          <p:cNvSpPr/>
          <p:nvPr/>
        </p:nvSpPr>
        <p:spPr>
          <a:xfrm>
            <a:off x="698500" y="1625600"/>
            <a:ext cx="5016500" cy="2400300"/>
          </a:xfrm>
          <a:prstGeom prst="roundRect">
            <a:avLst/>
          </a:prstGeom>
          <a:solidFill>
            <a:srgbClr val="0B1120"/>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75F7AF6-EBEA-F94C-DED5-BCBA837AC439}"/>
              </a:ext>
            </a:extLst>
          </p:cNvPr>
          <p:cNvSpPr txBox="1"/>
          <p:nvPr/>
        </p:nvSpPr>
        <p:spPr>
          <a:xfrm>
            <a:off x="825500" y="2007201"/>
            <a:ext cx="4889500" cy="1451679"/>
          </a:xfrm>
          <a:prstGeom prst="rect">
            <a:avLst/>
          </a:prstGeom>
          <a:noFill/>
        </p:spPr>
        <p:txBody>
          <a:bodyPr vert="horz" wrap="square" lIns="50800" tIns="25400" rIns="50800" bIns="25400" rtlCol="0">
            <a:spAutoFit/>
          </a:bodyPr>
          <a:lstStyle/>
          <a:p>
            <a:r>
              <a:rPr lang="en-IN" sz="1300" dirty="0">
                <a:solidFill>
                  <a:srgbClr val="34D399"/>
                </a:solidFill>
                <a:latin typeface="Consolas" panose="020B0609020204030204" pitchFamily="49" charset="0"/>
              </a:rPr>
              <a:t># Generate 440 Hz Sine wave (2 seconds)
./synth --wave sine --</a:t>
            </a:r>
            <a:r>
              <a:rPr lang="en-IN" sz="1300" dirty="0" err="1">
                <a:solidFill>
                  <a:srgbClr val="34D399"/>
                </a:solidFill>
                <a:latin typeface="Consolas" panose="020B0609020204030204" pitchFamily="49" charset="0"/>
              </a:rPr>
              <a:t>freq</a:t>
            </a:r>
            <a:r>
              <a:rPr lang="en-IN" sz="1300" dirty="0">
                <a:solidFill>
                  <a:srgbClr val="34D399"/>
                </a:solidFill>
                <a:latin typeface="Consolas" panose="020B0609020204030204" pitchFamily="49" charset="0"/>
              </a:rPr>
              <a:t> 440 --duration 2.0 --out tone.wav
# Generate 8-bit retro Square wave with ADSR
./synth --wave square --</a:t>
            </a:r>
            <a:r>
              <a:rPr lang="en-IN" sz="1300" dirty="0" err="1">
                <a:solidFill>
                  <a:srgbClr val="34D399"/>
                </a:solidFill>
                <a:latin typeface="Consolas" panose="020B0609020204030204" pitchFamily="49" charset="0"/>
              </a:rPr>
              <a:t>freq</a:t>
            </a:r>
            <a:r>
              <a:rPr lang="en-IN" sz="1300" dirty="0">
                <a:solidFill>
                  <a:srgbClr val="34D399"/>
                </a:solidFill>
                <a:latin typeface="Consolas" panose="020B0609020204030204" pitchFamily="49" charset="0"/>
              </a:rPr>
              <a:t> 220 --attack 0.05 --release 0.3</a:t>
            </a:r>
          </a:p>
        </p:txBody>
      </p:sp>
      <p:sp>
        <p:nvSpPr>
          <p:cNvPr id="12" name="Rectangle: Rounded Corners 11">
            <a:extLst>
              <a:ext uri="{FF2B5EF4-FFF2-40B4-BE49-F238E27FC236}">
                <a16:creationId xmlns:a16="http://schemas.microsoft.com/office/drawing/2014/main" id="{0EF7A6A2-0656-BF8B-6F23-FF211473C26B}"/>
              </a:ext>
            </a:extLst>
          </p:cNvPr>
          <p:cNvSpPr/>
          <p:nvPr/>
        </p:nvSpPr>
        <p:spPr>
          <a:xfrm>
            <a:off x="6286500" y="1143000"/>
            <a:ext cx="5397500" cy="3175000"/>
          </a:xfrm>
          <a:prstGeom prst="roundRect">
            <a:avLst/>
          </a:prstGeom>
          <a:solidFill>
            <a:srgbClr val="1E293B"/>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6FC6FA4-517D-8C49-C7DB-7C5328B7FC92}"/>
              </a:ext>
            </a:extLst>
          </p:cNvPr>
          <p:cNvSpPr txBox="1"/>
          <p:nvPr/>
        </p:nvSpPr>
        <p:spPr>
          <a:xfrm>
            <a:off x="6477000" y="1295400"/>
            <a:ext cx="5016500" cy="266740"/>
          </a:xfrm>
          <a:prstGeom prst="rect">
            <a:avLst/>
          </a:prstGeom>
          <a:noFill/>
        </p:spPr>
        <p:txBody>
          <a:bodyPr vert="horz" wrap="square" lIns="50800" tIns="25400" rIns="50800" bIns="25400" rtlCol="0">
            <a:spAutoFit/>
          </a:bodyPr>
          <a:lstStyle/>
          <a:p>
            <a:r>
              <a:rPr lang="en-IN" sz="1400" b="1" dirty="0">
                <a:solidFill>
                  <a:srgbClr val="C084FC"/>
                </a:solidFill>
                <a:latin typeface="Segoe UI" panose="020B0502040204020203" pitchFamily="34" charset="0"/>
              </a:rPr>
              <a:t>INTERACTIVE TUI: Terminal GUI (synth-tui)</a:t>
            </a:r>
          </a:p>
        </p:txBody>
      </p:sp>
      <p:sp>
        <p:nvSpPr>
          <p:cNvPr id="14" name="TextBox 13">
            <a:extLst>
              <a:ext uri="{FF2B5EF4-FFF2-40B4-BE49-F238E27FC236}">
                <a16:creationId xmlns:a16="http://schemas.microsoft.com/office/drawing/2014/main" id="{87F990EB-8A3C-7F14-B087-9401D464F236}"/>
              </a:ext>
            </a:extLst>
          </p:cNvPr>
          <p:cNvSpPr txBox="1"/>
          <p:nvPr/>
        </p:nvSpPr>
        <p:spPr>
          <a:xfrm>
            <a:off x="6477000" y="1625600"/>
            <a:ext cx="5016500" cy="1251625"/>
          </a:xfrm>
          <a:prstGeom prst="rect">
            <a:avLst/>
          </a:prstGeom>
          <a:noFill/>
        </p:spPr>
        <p:txBody>
          <a:bodyPr vert="horz" wrap="square" lIns="50800" tIns="25400" rIns="50800" bIns="25400" rtlCol="0">
            <a:spAutoFit/>
          </a:bodyPr>
          <a:lstStyle/>
          <a:p>
            <a:r>
              <a:rPr lang="en-IN" sz="1300" dirty="0">
                <a:solidFill>
                  <a:srgbClr val="FFFFFF"/>
                </a:solidFill>
                <a:latin typeface="Segoe UI" panose="020B0502040204020203" pitchFamily="34" charset="0"/>
              </a:rPr>
              <a:t>Interactive Sliders: Frequency (20-2000 Hz), Amplitude, Duration, ADSR.
Waveform Toggle: Instantly switch between Sine, Square, Sawtooth.
Braille Canvas Preview: Live Unicode Braille waveform and envelope graph.
Single-click export and instant file generation status confirmation.</a:t>
            </a:r>
          </a:p>
        </p:txBody>
      </p:sp>
      <p:sp>
        <p:nvSpPr>
          <p:cNvPr id="15" name="Rectangle: Rounded Corners 14">
            <a:extLst>
              <a:ext uri="{FF2B5EF4-FFF2-40B4-BE49-F238E27FC236}">
                <a16:creationId xmlns:a16="http://schemas.microsoft.com/office/drawing/2014/main" id="{FC48D194-6546-B264-A10F-C116F7274E08}"/>
              </a:ext>
            </a:extLst>
          </p:cNvPr>
          <p:cNvSpPr/>
          <p:nvPr/>
        </p:nvSpPr>
        <p:spPr>
          <a:xfrm>
            <a:off x="508000" y="4470400"/>
            <a:ext cx="11176000" cy="2006600"/>
          </a:xfrm>
          <a:prstGeom prst="roundRect">
            <a:avLst/>
          </a:prstGeom>
          <a:solidFill>
            <a:srgbClr val="14281E"/>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24AFB202-7F3D-2921-A3EB-9F998948DD40}"/>
              </a:ext>
            </a:extLst>
          </p:cNvPr>
          <p:cNvSpPr txBox="1"/>
          <p:nvPr/>
        </p:nvSpPr>
        <p:spPr>
          <a:xfrm>
            <a:off x="762000" y="4597400"/>
            <a:ext cx="10668000" cy="251351"/>
          </a:xfrm>
          <a:prstGeom prst="rect">
            <a:avLst/>
          </a:prstGeom>
          <a:noFill/>
        </p:spPr>
        <p:txBody>
          <a:bodyPr vert="horz" wrap="square" lIns="50800" tIns="25400" rIns="50800" bIns="25400" rtlCol="0">
            <a:spAutoFit/>
          </a:bodyPr>
          <a:lstStyle/>
          <a:p>
            <a:pPr algn="ctr"/>
            <a:r>
              <a:rPr lang="en-IN" sz="1300" b="1">
                <a:solidFill>
                  <a:srgbClr val="34D399"/>
                </a:solidFill>
                <a:latin typeface="Segoe UI" panose="020B0502040204020203" pitchFamily="34" charset="0"/>
              </a:rPr>
              <a:t>KEY ACHIEVEMENTS &amp; PROJECT SUMMARY</a:t>
            </a:r>
          </a:p>
        </p:txBody>
      </p:sp>
      <p:sp>
        <p:nvSpPr>
          <p:cNvPr id="17" name="Rectangle: Rounded Corners 16">
            <a:extLst>
              <a:ext uri="{FF2B5EF4-FFF2-40B4-BE49-F238E27FC236}">
                <a16:creationId xmlns:a16="http://schemas.microsoft.com/office/drawing/2014/main" id="{64BDC3AC-F761-4126-8370-FD643DC2648F}"/>
              </a:ext>
            </a:extLst>
          </p:cNvPr>
          <p:cNvSpPr/>
          <p:nvPr/>
        </p:nvSpPr>
        <p:spPr>
          <a:xfrm>
            <a:off x="762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43A25E66-7FA7-EC7A-CD3A-ABB17E9510B8}"/>
              </a:ext>
            </a:extLst>
          </p:cNvPr>
          <p:cNvSpPr txBox="1"/>
          <p:nvPr/>
        </p:nvSpPr>
        <p:spPr>
          <a:xfrm>
            <a:off x="889000" y="5016500"/>
            <a:ext cx="3048000" cy="220573"/>
          </a:xfrm>
          <a:prstGeom prst="rect">
            <a:avLst/>
          </a:prstGeom>
          <a:noFill/>
        </p:spPr>
        <p:txBody>
          <a:bodyPr vert="horz" wrap="square" lIns="50800" tIns="25400" rIns="50800" bIns="25400" rtlCol="0">
            <a:spAutoFit/>
          </a:bodyPr>
          <a:lstStyle/>
          <a:p>
            <a:pPr algn="ctr"/>
            <a:r>
              <a:rPr lang="en-IN" sz="1100" b="1">
                <a:solidFill>
                  <a:srgbClr val="38BDF8"/>
                </a:solidFill>
                <a:latin typeface="Segoe UI" panose="020B0502040204020203" pitchFamily="34" charset="0"/>
              </a:rPr>
              <a:t>Zero External Codecs</a:t>
            </a:r>
          </a:p>
        </p:txBody>
      </p:sp>
      <p:sp>
        <p:nvSpPr>
          <p:cNvPr id="19" name="TextBox 18">
            <a:extLst>
              <a:ext uri="{FF2B5EF4-FFF2-40B4-BE49-F238E27FC236}">
                <a16:creationId xmlns:a16="http://schemas.microsoft.com/office/drawing/2014/main" id="{6F716B1B-31DC-83C8-62AA-AB9B5FEAB2EA}"/>
              </a:ext>
            </a:extLst>
          </p:cNvPr>
          <p:cNvSpPr txBox="1"/>
          <p:nvPr/>
        </p:nvSpPr>
        <p:spPr>
          <a:xfrm>
            <a:off x="889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100% mathematical generation from first principles in C++17.</a:t>
            </a:r>
            <a:endParaRPr lang="en-IN" sz="900">
              <a:solidFill>
                <a:srgbClr val="E2E8F0"/>
              </a:solidFill>
              <a:latin typeface="Segoe UI" panose="020B0502040204020203" pitchFamily="34" charset="0"/>
            </a:endParaRPr>
          </a:p>
        </p:txBody>
      </p:sp>
      <p:sp>
        <p:nvSpPr>
          <p:cNvPr id="20" name="Rectangle: Rounded Corners 19">
            <a:extLst>
              <a:ext uri="{FF2B5EF4-FFF2-40B4-BE49-F238E27FC236}">
                <a16:creationId xmlns:a16="http://schemas.microsoft.com/office/drawing/2014/main" id="{0F237278-5BCE-B5A4-6EC6-03902F4B7312}"/>
              </a:ext>
            </a:extLst>
          </p:cNvPr>
          <p:cNvSpPr/>
          <p:nvPr/>
        </p:nvSpPr>
        <p:spPr>
          <a:xfrm>
            <a:off x="4445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B83E6647-B873-5FE3-FD70-C0C01DB2480F}"/>
              </a:ext>
            </a:extLst>
          </p:cNvPr>
          <p:cNvSpPr txBox="1"/>
          <p:nvPr/>
        </p:nvSpPr>
        <p:spPr>
          <a:xfrm>
            <a:off x="4572000" y="5016500"/>
            <a:ext cx="3048000" cy="220573"/>
          </a:xfrm>
          <a:prstGeom prst="rect">
            <a:avLst/>
          </a:prstGeom>
          <a:noFill/>
        </p:spPr>
        <p:txBody>
          <a:bodyPr vert="horz" wrap="square" lIns="50800" tIns="25400" rIns="50800" bIns="25400" rtlCol="0">
            <a:spAutoFit/>
          </a:bodyPr>
          <a:lstStyle/>
          <a:p>
            <a:pPr algn="ctr"/>
            <a:r>
              <a:rPr lang="en-IN" sz="1100" b="1">
                <a:solidFill>
                  <a:srgbClr val="C084FC"/>
                </a:solidFill>
                <a:latin typeface="Segoe UI" panose="020B0502040204020203" pitchFamily="34" charset="0"/>
              </a:rPr>
              <a:t>Clean OOP Architecture</a:t>
            </a:r>
          </a:p>
        </p:txBody>
      </p:sp>
      <p:sp>
        <p:nvSpPr>
          <p:cNvPr id="22" name="TextBox 21">
            <a:extLst>
              <a:ext uri="{FF2B5EF4-FFF2-40B4-BE49-F238E27FC236}">
                <a16:creationId xmlns:a16="http://schemas.microsoft.com/office/drawing/2014/main" id="{1E5898C9-BD96-08C6-B87E-4A0B6518D2C6}"/>
              </a:ext>
            </a:extLst>
          </p:cNvPr>
          <p:cNvSpPr txBox="1"/>
          <p:nvPr/>
        </p:nvSpPr>
        <p:spPr>
          <a:xfrm>
            <a:off x="4572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Polymorphic hierarchy, abstract classes &amp; leak-free Factory Pattern.</a:t>
            </a:r>
            <a:endParaRPr lang="en-IN" sz="900">
              <a:solidFill>
                <a:srgbClr val="E2E8F0"/>
              </a:solidFill>
              <a:latin typeface="Segoe UI" panose="020B0502040204020203" pitchFamily="34" charset="0"/>
            </a:endParaRPr>
          </a:p>
        </p:txBody>
      </p:sp>
      <p:sp>
        <p:nvSpPr>
          <p:cNvPr id="23" name="Rectangle: Rounded Corners 22">
            <a:extLst>
              <a:ext uri="{FF2B5EF4-FFF2-40B4-BE49-F238E27FC236}">
                <a16:creationId xmlns:a16="http://schemas.microsoft.com/office/drawing/2014/main" id="{8FBE9837-063C-8C56-6E67-28A84D1F0711}"/>
              </a:ext>
            </a:extLst>
          </p:cNvPr>
          <p:cNvSpPr/>
          <p:nvPr/>
        </p:nvSpPr>
        <p:spPr>
          <a:xfrm>
            <a:off x="8128000" y="4953000"/>
            <a:ext cx="3302000" cy="952500"/>
          </a:xfrm>
          <a:prstGeom prst="roundRect">
            <a:avLst/>
          </a:prstGeom>
          <a:solidFill>
            <a:srgbClr val="0F1E19"/>
          </a:solidFill>
          <a:ln w="12700">
            <a:solidFill>
              <a:srgbClr val="34D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1F7D47EB-FE4D-4589-E43D-B28BA73EC509}"/>
              </a:ext>
            </a:extLst>
          </p:cNvPr>
          <p:cNvSpPr txBox="1"/>
          <p:nvPr/>
        </p:nvSpPr>
        <p:spPr>
          <a:xfrm>
            <a:off x="8255000" y="5016500"/>
            <a:ext cx="3048000" cy="220573"/>
          </a:xfrm>
          <a:prstGeom prst="rect">
            <a:avLst/>
          </a:prstGeom>
          <a:noFill/>
        </p:spPr>
        <p:txBody>
          <a:bodyPr vert="horz" wrap="square" lIns="50800" tIns="25400" rIns="50800" bIns="25400" rtlCol="0">
            <a:spAutoFit/>
          </a:bodyPr>
          <a:lstStyle/>
          <a:p>
            <a:pPr algn="ctr"/>
            <a:r>
              <a:rPr lang="en-IN" sz="1100" b="1">
                <a:solidFill>
                  <a:srgbClr val="FBBF24"/>
                </a:solidFill>
                <a:latin typeface="Segoe UI" panose="020B0502040204020203" pitchFamily="34" charset="0"/>
              </a:rPr>
              <a:t>Binary RIFF Compliance</a:t>
            </a:r>
          </a:p>
        </p:txBody>
      </p:sp>
      <p:sp>
        <p:nvSpPr>
          <p:cNvPr id="25" name="TextBox 24">
            <a:extLst>
              <a:ext uri="{FF2B5EF4-FFF2-40B4-BE49-F238E27FC236}">
                <a16:creationId xmlns:a16="http://schemas.microsoft.com/office/drawing/2014/main" id="{0FBB0572-9A78-C30B-8681-01D5F2E9D4C2}"/>
              </a:ext>
            </a:extLst>
          </p:cNvPr>
          <p:cNvSpPr txBox="1"/>
          <p:nvPr/>
        </p:nvSpPr>
        <p:spPr>
          <a:xfrm>
            <a:off x="8255000" y="5270500"/>
            <a:ext cx="3048000" cy="328295"/>
          </a:xfrm>
          <a:prstGeom prst="rect">
            <a:avLst/>
          </a:prstGeom>
          <a:noFill/>
        </p:spPr>
        <p:txBody>
          <a:bodyPr vert="horz" wrap="square" lIns="50800" tIns="25400" rIns="50800" bIns="25400" rtlCol="0">
            <a:spAutoFit/>
          </a:bodyPr>
          <a:lstStyle/>
          <a:p>
            <a:pPr algn="ctr"/>
            <a:r>
              <a:rPr lang="en-US" sz="900">
                <a:solidFill>
                  <a:srgbClr val="E2E8F0"/>
                </a:solidFill>
                <a:latin typeface="Segoe UI" panose="020B0502040204020203" pitchFamily="34" charset="0"/>
              </a:rPr>
              <a:t>Quantized 16-bit PCM streaming with Little-Endian byte packing.</a:t>
            </a:r>
            <a:endParaRPr lang="en-IN" sz="900">
              <a:solidFill>
                <a:srgbClr val="E2E8F0"/>
              </a:solidFill>
              <a:latin typeface="Segoe UI" panose="020B0502040204020203" pitchFamily="34" charset="0"/>
            </a:endParaRPr>
          </a:p>
        </p:txBody>
      </p:sp>
    </p:spTree>
    <p:extLst>
      <p:ext uri="{BB962C8B-B14F-4D97-AF65-F5344CB8AC3E}">
        <p14:creationId xmlns:p14="http://schemas.microsoft.com/office/powerpoint/2010/main" val="507359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257</TotalTime>
  <Words>1688</Words>
  <Application>Microsoft Office PowerPoint</Application>
  <PresentationFormat>Widescreen</PresentationFormat>
  <Paragraphs>120</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Shailesh M</dc:creator>
  <cp:lastModifiedBy>Shailesh M</cp:lastModifiedBy>
  <cp:revision>6</cp:revision>
  <dcterms:created xsi:type="dcterms:W3CDTF">2026-10-28T17:45:59Z</dcterms:created>
  <dcterms:modified xsi:type="dcterms:W3CDTF">2026-10-30T11:29:58Z</dcterms:modified>
</cp:coreProperties>
</file>